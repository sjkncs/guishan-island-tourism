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2" Type="http://schemas.openxmlformats.org/officeDocument/2006/relationships/notesSlide" Target="../notesSlides/notesSlide6.xml"/><Relationship Id="rId31" Type="http://schemas.openxmlformats.org/officeDocument/2006/relationships/slideLayout" Target="../slideLayouts/slideLayout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6" Type="http://schemas.openxmlformats.org/officeDocument/2006/relationships/notesSlide" Target="../notesSlides/notesSlide11.xml"/><Relationship Id="rId25" Type="http://schemas.openxmlformats.org/officeDocument/2006/relationships/slideLayout" Target="../slideLayouts/slideLayout1.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731520" y="914400"/>
            <a:ext cx="7680960" cy="2011680"/>
          </a:xfrm>
          <a:prstGeom prst="rect">
            <a:avLst/>
          </a:prstGeom>
          <a:noFill/>
        </p:spPr>
        <p:txBody>
          <a:bodyPr wrap="square" rtlCol="0" anchor="ctr"/>
          <a:lstStyle/>
          <a:p>
            <a:pPr marL="0" indent="0" algn="l">
              <a:lnSpc>
                <a:spcPct val="130000"/>
              </a:lnSpc>
              <a:buNone/>
            </a:pPr>
            <a:r>
              <a:rPr lang="en-US" sz="34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桂山岛海岛型乡村空间治理</a:t>
            </a:r>
            <a:endParaRPr lang="en-US" sz="3400" dirty="0">
              <a:solidFill>
                <a:schemeClr val="accent1"/>
              </a:solidFill>
            </a:endParaRPr>
          </a:p>
          <a:p>
            <a:pPr marL="0" indent="0" algn="l">
              <a:lnSpc>
                <a:spcPct val="130000"/>
              </a:lnSpc>
              <a:buNone/>
            </a:pPr>
            <a:r>
              <a:rPr lang="en-US" sz="34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与可持续发展调研方案</a:t>
            </a:r>
            <a:endParaRPr lang="en-US" sz="34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2"/>
          <p:cNvSpPr/>
          <p:nvPr/>
        </p:nvSpPr>
        <p:spPr>
          <a:xfrm>
            <a:off x="731520" y="2926080"/>
            <a:ext cx="7680960" cy="457200"/>
          </a:xfrm>
          <a:prstGeom prst="rect">
            <a:avLst/>
          </a:prstGeom>
          <a:noFill/>
        </p:spPr>
        <p:txBody>
          <a:bodyPr wrap="square" rtlCol="0" anchor="ctr"/>
          <a:lstStyle/>
          <a:p>
            <a:pPr marL="0" indent="0" algn="l">
              <a:buNone/>
            </a:pPr>
            <a:r>
              <a:rPr lang="en-US" sz="1800" kern="0" spc="200" dirty="0">
                <a:solidFill>
                  <a:srgbClr val="14B8A6"/>
                </a:solidFill>
                <a:latin typeface="微软雅黑" panose="020B0503020204020204" pitchFamily="34" charset="-122"/>
                <a:ea typeface="微软雅黑" panose="020B0503020204020204" pitchFamily="34" charset="-122"/>
                <a:cs typeface="微软雅黑" panose="020B0503020204020204" pitchFamily="34" charset="-120"/>
              </a:rPr>
              <a:t>空间句法  |  产业经济  |  数据治理</a:t>
            </a:r>
            <a:endParaRPr lang="en-US" sz="1800" dirty="0"/>
          </a:p>
        </p:txBody>
      </p:sp>
      <p:sp>
        <p:nvSpPr>
          <p:cNvPr id="5" name="Shape 3"/>
          <p:cNvSpPr/>
          <p:nvPr/>
        </p:nvSpPr>
        <p:spPr>
          <a:xfrm>
            <a:off x="731520" y="3566160"/>
            <a:ext cx="2743200" cy="0"/>
          </a:xfrm>
          <a:prstGeom prst="line">
            <a:avLst/>
          </a:prstGeom>
          <a:noFill/>
          <a:ln w="19050">
            <a:solidFill>
              <a:srgbClr val="0D9488"/>
            </a:solidFill>
            <a:prstDash val="solid"/>
          </a:ln>
        </p:spPr>
      </p:sp>
      <p:sp>
        <p:nvSpPr>
          <p:cNvPr id="6" name="Text 4"/>
          <p:cNvSpPr/>
          <p:nvPr/>
        </p:nvSpPr>
        <p:spPr>
          <a:xfrm>
            <a:off x="731520" y="3749040"/>
            <a:ext cx="7680960" cy="1097280"/>
          </a:xfrm>
          <a:prstGeom prst="rect">
            <a:avLst/>
          </a:prstGeom>
          <a:noFill/>
        </p:spPr>
        <p:txBody>
          <a:bodyPr wrap="square" rtlCol="0" anchor="ctr"/>
          <a:lstStyle/>
          <a:p>
            <a:pPr marL="0" indent="0" algn="l">
              <a:lnSpc>
                <a:spcPct val="150000"/>
              </a:lnSpc>
              <a:buNone/>
            </a:pPr>
            <a:r>
              <a:rPr lang="en-US" sz="13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调研地点：珠海市香洲区桂山镇桂山岛</a:t>
            </a:r>
            <a:endParaRPr lang="en-US" sz="1300" dirty="0"/>
          </a:p>
          <a:p>
            <a:pPr marL="0" indent="0" algn="l">
              <a:lnSpc>
                <a:spcPct val="150000"/>
              </a:lnSpc>
              <a:buNone/>
            </a:pPr>
            <a:r>
              <a:rPr lang="en-US" sz="13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调研时间：2026年7月15日 - 7月17日</a:t>
            </a:r>
            <a:br>
              <a:rPr lang="en-US" sz="13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br>
            <a:r>
              <a:rPr lang="en-US" sz="13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汇报日期：2026年7月14日</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  研究背景：桂山岛概况</a:t>
            </a:r>
            <a:endParaRPr lang="en-US" sz="2000" dirty="0"/>
          </a:p>
        </p:txBody>
      </p:sp>
      <p:sp>
        <p:nvSpPr>
          <p:cNvPr id="4" name="Shape 2"/>
          <p:cNvSpPr/>
          <p:nvPr/>
        </p:nvSpPr>
        <p:spPr>
          <a:xfrm>
            <a:off x="457200" y="1005840"/>
            <a:ext cx="3931920" cy="822960"/>
          </a:xfrm>
          <a:prstGeom prst="rect">
            <a:avLst/>
          </a:prstGeom>
          <a:solidFill>
            <a:srgbClr val="FFFFFF"/>
          </a:solidFill>
          <a:effectLst>
            <a:outerShdw blurRad="50800" dist="19050" dir="8100000" algn="bl" rotWithShape="0">
              <a:srgbClr val="000000">
                <a:alpha val="8000"/>
              </a:srgbClr>
            </a:outerShdw>
          </a:effectLst>
        </p:spPr>
      </p:sp>
      <p:sp>
        <p:nvSpPr>
          <p:cNvPr id="5" name="Text 3"/>
          <p:cNvSpPr/>
          <p:nvPr/>
        </p:nvSpPr>
        <p:spPr>
          <a:xfrm>
            <a:off x="640080" y="1078992"/>
            <a:ext cx="1645920" cy="676656"/>
          </a:xfrm>
          <a:prstGeom prst="rect">
            <a:avLst/>
          </a:prstGeom>
          <a:noFill/>
        </p:spPr>
        <p:txBody>
          <a:bodyPr wrap="square" lIns="0" tIns="0" rIns="0" bIns="0" rtlCol="0" anchor="ctr"/>
          <a:lstStyle/>
          <a:p>
            <a:pPr marL="0" indent="0" algn="ctr">
              <a:buNone/>
            </a:pPr>
            <a:r>
              <a:rPr lang="en-US" sz="2200" b="1" dirty="0">
                <a:solidFill>
                  <a:srgbClr val="0D9488"/>
                </a:solidFill>
                <a:latin typeface="Georgia" panose="02040502050405020303" pitchFamily="34" charset="0"/>
                <a:ea typeface="Georgia" panose="02040502050405020303" pitchFamily="34" charset="-122"/>
                <a:cs typeface="Georgia" panose="02040502050405020303" pitchFamily="34" charset="-120"/>
              </a:rPr>
              <a:t>3.5 km</a:t>
            </a:r>
            <a:endParaRPr lang="en-US" sz="2200" dirty="0"/>
          </a:p>
        </p:txBody>
      </p:sp>
      <p:sp>
        <p:nvSpPr>
          <p:cNvPr id="6" name="Text 4"/>
          <p:cNvSpPr/>
          <p:nvPr/>
        </p:nvSpPr>
        <p:spPr>
          <a:xfrm>
            <a:off x="2377440" y="1078992"/>
            <a:ext cx="1828800" cy="676656"/>
          </a:xfrm>
          <a:prstGeom prst="rect">
            <a:avLst/>
          </a:prstGeom>
          <a:noFill/>
        </p:spPr>
        <p:txBody>
          <a:bodyPr wrap="square" lIns="0" tIns="0" rIns="0" bIns="0" rtlCol="0" anchor="ctr"/>
          <a:lstStyle/>
          <a:p>
            <a:pPr marL="0" indent="0">
              <a:buNone/>
            </a:pPr>
            <a:r>
              <a:rPr lang="en-US" sz="12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岛屿面积（本体）</a:t>
            </a:r>
            <a:endParaRPr lang="en-US" sz="1200" dirty="0"/>
          </a:p>
          <a:p>
            <a:pPr marL="0" indent="0">
              <a:buNone/>
            </a:pPr>
            <a:r>
              <a:rPr lang="en-US"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三岛合一后6.92 km</a:t>
            </a:r>
            <a:endParaRPr lang="en-US" sz="1200" dirty="0"/>
          </a:p>
        </p:txBody>
      </p:sp>
      <p:sp>
        <p:nvSpPr>
          <p:cNvPr id="7" name="Shape 5"/>
          <p:cNvSpPr/>
          <p:nvPr/>
        </p:nvSpPr>
        <p:spPr>
          <a:xfrm>
            <a:off x="457200" y="1965960"/>
            <a:ext cx="3931920" cy="822960"/>
          </a:xfrm>
          <a:prstGeom prst="rect">
            <a:avLst/>
          </a:prstGeom>
          <a:solidFill>
            <a:srgbClr val="FFFFFF"/>
          </a:solidFill>
          <a:effectLst>
            <a:outerShdw blurRad="50800" dist="19050" dir="8100000" algn="bl" rotWithShape="0">
              <a:srgbClr val="000000">
                <a:alpha val="8000"/>
              </a:srgbClr>
            </a:outerShdw>
          </a:effectLst>
        </p:spPr>
      </p:sp>
      <p:sp>
        <p:nvSpPr>
          <p:cNvPr id="8" name="Text 6"/>
          <p:cNvSpPr/>
          <p:nvPr/>
        </p:nvSpPr>
        <p:spPr>
          <a:xfrm>
            <a:off x="640080" y="2039112"/>
            <a:ext cx="1645920" cy="676656"/>
          </a:xfrm>
          <a:prstGeom prst="rect">
            <a:avLst/>
          </a:prstGeom>
          <a:noFill/>
        </p:spPr>
        <p:txBody>
          <a:bodyPr wrap="square" lIns="0" tIns="0" rIns="0" bIns="0" rtlCol="0" anchor="ctr"/>
          <a:lstStyle/>
          <a:p>
            <a:pPr marL="0" indent="0" algn="ctr">
              <a:buNone/>
            </a:pPr>
            <a:r>
              <a:rPr lang="en-US" sz="2200" b="1" dirty="0">
                <a:solidFill>
                  <a:srgbClr val="0D9488"/>
                </a:solidFill>
                <a:latin typeface="Georgia" panose="02040502050405020303" pitchFamily="34" charset="0"/>
                <a:ea typeface="Georgia" panose="02040502050405020303" pitchFamily="34" charset="-122"/>
                <a:cs typeface="Georgia" panose="02040502050405020303" pitchFamily="34" charset="-120"/>
              </a:rPr>
              <a:t>9.4 km</a:t>
            </a:r>
            <a:endParaRPr lang="en-US" sz="2200" dirty="0"/>
          </a:p>
        </p:txBody>
      </p:sp>
      <p:sp>
        <p:nvSpPr>
          <p:cNvPr id="9" name="Text 7"/>
          <p:cNvSpPr/>
          <p:nvPr/>
        </p:nvSpPr>
        <p:spPr>
          <a:xfrm>
            <a:off x="2377440" y="2039112"/>
            <a:ext cx="1828800" cy="676656"/>
          </a:xfrm>
          <a:prstGeom prst="rect">
            <a:avLst/>
          </a:prstGeom>
          <a:noFill/>
        </p:spPr>
        <p:txBody>
          <a:bodyPr wrap="square" lIns="0" tIns="0" rIns="0" bIns="0" rtlCol="0" anchor="ctr"/>
          <a:lstStyle/>
          <a:p>
            <a:pPr marL="0" indent="0">
              <a:buNone/>
            </a:pPr>
            <a:r>
              <a:rPr lang="en-US" sz="12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海岸线长度</a:t>
            </a:r>
            <a:endParaRPr lang="en-US" sz="1200" dirty="0"/>
          </a:p>
          <a:p>
            <a:pPr marL="0" indent="0">
              <a:buNone/>
            </a:pPr>
            <a:r>
              <a:rPr lang="en-US"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岩石陡岸为主</a:t>
            </a:r>
            <a:endParaRPr lang="en-US" sz="1200" dirty="0"/>
          </a:p>
        </p:txBody>
      </p:sp>
      <p:sp>
        <p:nvSpPr>
          <p:cNvPr id="10" name="Shape 8"/>
          <p:cNvSpPr/>
          <p:nvPr/>
        </p:nvSpPr>
        <p:spPr>
          <a:xfrm>
            <a:off x="457200" y="2926080"/>
            <a:ext cx="3931920" cy="822960"/>
          </a:xfrm>
          <a:prstGeom prst="rect">
            <a:avLst/>
          </a:prstGeom>
          <a:solidFill>
            <a:srgbClr val="FFFFFF"/>
          </a:solidFill>
          <a:effectLst>
            <a:outerShdw blurRad="50800" dist="19050" dir="8100000" algn="bl" rotWithShape="0">
              <a:srgbClr val="000000">
                <a:alpha val="8000"/>
              </a:srgbClr>
            </a:outerShdw>
          </a:effectLst>
        </p:spPr>
      </p:sp>
      <p:sp>
        <p:nvSpPr>
          <p:cNvPr id="11" name="Text 9"/>
          <p:cNvSpPr/>
          <p:nvPr/>
        </p:nvSpPr>
        <p:spPr>
          <a:xfrm>
            <a:off x="640080" y="2999232"/>
            <a:ext cx="1645920" cy="676656"/>
          </a:xfrm>
          <a:prstGeom prst="rect">
            <a:avLst/>
          </a:prstGeom>
          <a:noFill/>
        </p:spPr>
        <p:txBody>
          <a:bodyPr wrap="square" lIns="0" tIns="0" rIns="0" bIns="0" rtlCol="0" anchor="ctr"/>
          <a:lstStyle/>
          <a:p>
            <a:pPr marL="0" indent="0" algn="ctr">
              <a:buNone/>
            </a:pPr>
            <a:r>
              <a:rPr lang="en-US" sz="2200" b="1" dirty="0">
                <a:solidFill>
                  <a:srgbClr val="0D9488"/>
                </a:solidFill>
                <a:latin typeface="Georgia" panose="02040502050405020303" pitchFamily="34" charset="0"/>
                <a:ea typeface="Georgia" panose="02040502050405020303" pitchFamily="34" charset="-122"/>
                <a:cs typeface="Georgia" panose="02040502050405020303" pitchFamily="34" charset="-120"/>
              </a:rPr>
              <a:t>~2,100</a:t>
            </a:r>
            <a:endParaRPr lang="en-US" sz="2200" dirty="0"/>
          </a:p>
        </p:txBody>
      </p:sp>
      <p:sp>
        <p:nvSpPr>
          <p:cNvPr id="12" name="Text 10"/>
          <p:cNvSpPr/>
          <p:nvPr/>
        </p:nvSpPr>
        <p:spPr>
          <a:xfrm>
            <a:off x="2377440" y="2999232"/>
            <a:ext cx="1828800" cy="676656"/>
          </a:xfrm>
          <a:prstGeom prst="rect">
            <a:avLst/>
          </a:prstGeom>
          <a:noFill/>
        </p:spPr>
        <p:txBody>
          <a:bodyPr wrap="square" lIns="0" tIns="0" rIns="0" bIns="0" rtlCol="0" anchor="ctr"/>
          <a:lstStyle/>
          <a:p>
            <a:pPr marL="0" indent="0">
              <a:buNone/>
            </a:pPr>
            <a:r>
              <a:rPr lang="en-US" sz="12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常住人口</a:t>
            </a:r>
            <a:endParaRPr lang="en-US" sz="1200" dirty="0"/>
          </a:p>
          <a:p>
            <a:pPr marL="0" indent="0">
              <a:buNone/>
            </a:pPr>
            <a:r>
              <a:rPr lang="en-US"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万山群岛最多</a:t>
            </a:r>
            <a:endParaRPr lang="en-US" sz="1200" dirty="0"/>
          </a:p>
        </p:txBody>
      </p:sp>
      <p:sp>
        <p:nvSpPr>
          <p:cNvPr id="13" name="Shape 11"/>
          <p:cNvSpPr/>
          <p:nvPr/>
        </p:nvSpPr>
        <p:spPr>
          <a:xfrm>
            <a:off x="457200" y="3886200"/>
            <a:ext cx="3931920" cy="822960"/>
          </a:xfrm>
          <a:prstGeom prst="rect">
            <a:avLst/>
          </a:prstGeom>
          <a:solidFill>
            <a:srgbClr val="FFFFFF"/>
          </a:solidFill>
          <a:effectLst>
            <a:outerShdw blurRad="50800" dist="19050" dir="8100000" algn="bl" rotWithShape="0">
              <a:srgbClr val="000000">
                <a:alpha val="8000"/>
              </a:srgbClr>
            </a:outerShdw>
          </a:effectLst>
        </p:spPr>
      </p:sp>
      <p:sp>
        <p:nvSpPr>
          <p:cNvPr id="14" name="Text 12"/>
          <p:cNvSpPr/>
          <p:nvPr/>
        </p:nvSpPr>
        <p:spPr>
          <a:xfrm>
            <a:off x="640080" y="3959352"/>
            <a:ext cx="1645920" cy="676656"/>
          </a:xfrm>
          <a:prstGeom prst="rect">
            <a:avLst/>
          </a:prstGeom>
          <a:noFill/>
        </p:spPr>
        <p:txBody>
          <a:bodyPr wrap="square" lIns="0" tIns="0" rIns="0" bIns="0" rtlCol="0" anchor="ctr"/>
          <a:lstStyle/>
          <a:p>
            <a:pPr marL="0" indent="0" algn="ctr">
              <a:buNone/>
            </a:pPr>
            <a:r>
              <a:rPr lang="en-US" sz="2200" b="1" dirty="0">
                <a:solidFill>
                  <a:srgbClr val="0D9488"/>
                </a:solidFill>
                <a:latin typeface="Georgia" panose="02040502050405020303" pitchFamily="34" charset="0"/>
                <a:ea typeface="Georgia" panose="02040502050405020303" pitchFamily="34" charset="-122"/>
                <a:cs typeface="Georgia" panose="02040502050405020303" pitchFamily="34" charset="-120"/>
              </a:rPr>
              <a:t>50.9万</a:t>
            </a:r>
            <a:endParaRPr lang="en-US" sz="2200" dirty="0"/>
          </a:p>
        </p:txBody>
      </p:sp>
      <p:sp>
        <p:nvSpPr>
          <p:cNvPr id="15" name="Text 13"/>
          <p:cNvSpPr/>
          <p:nvPr/>
        </p:nvSpPr>
        <p:spPr>
          <a:xfrm>
            <a:off x="2377440" y="3959352"/>
            <a:ext cx="1828800" cy="676656"/>
          </a:xfrm>
          <a:prstGeom prst="rect">
            <a:avLst/>
          </a:prstGeom>
          <a:noFill/>
        </p:spPr>
        <p:txBody>
          <a:bodyPr wrap="square" lIns="0" tIns="0" rIns="0" bIns="0" rtlCol="0" anchor="ctr"/>
          <a:lstStyle/>
          <a:p>
            <a:pPr marL="0" indent="0">
              <a:buNone/>
            </a:pPr>
            <a:r>
              <a:rPr lang="en-US" sz="12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年游客量(2024)</a:t>
            </a:r>
            <a:endParaRPr lang="en-US" sz="1200" dirty="0"/>
          </a:p>
          <a:p>
            <a:pPr marL="0" indent="0">
              <a:buNone/>
            </a:pPr>
            <a:r>
              <a:rPr lang="en-US"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同比增长27.5%</a:t>
            </a:r>
            <a:endParaRPr lang="en-US" sz="1200" dirty="0"/>
          </a:p>
        </p:txBody>
      </p:sp>
      <p:sp>
        <p:nvSpPr>
          <p:cNvPr id="16" name="Shape 14"/>
          <p:cNvSpPr/>
          <p:nvPr/>
        </p:nvSpPr>
        <p:spPr>
          <a:xfrm>
            <a:off x="4754880" y="1005840"/>
            <a:ext cx="3931920" cy="3749040"/>
          </a:xfrm>
          <a:prstGeom prst="rect">
            <a:avLst/>
          </a:prstGeom>
          <a:solidFill>
            <a:srgbClr val="FFFFFF"/>
          </a:solidFill>
          <a:effectLst>
            <a:outerShdw blurRad="50800" dist="19050" dir="8100000" algn="bl" rotWithShape="0">
              <a:srgbClr val="000000">
                <a:alpha val="8000"/>
              </a:srgbClr>
            </a:outerShdw>
          </a:effectLst>
        </p:spPr>
      </p:sp>
      <p:sp>
        <p:nvSpPr>
          <p:cNvPr id="17" name="Text 15"/>
          <p:cNvSpPr/>
          <p:nvPr/>
        </p:nvSpPr>
        <p:spPr>
          <a:xfrm>
            <a:off x="5029200" y="1143000"/>
            <a:ext cx="3383280" cy="365760"/>
          </a:xfrm>
          <a:prstGeom prst="rect">
            <a:avLst/>
          </a:prstGeom>
          <a:noFill/>
        </p:spPr>
        <p:txBody>
          <a:bodyPr wrap="square" lIns="0" tIns="0" rIns="0" bIns="0" rtlCol="0" anchor="ctr"/>
          <a:lstStyle/>
          <a:p>
            <a:pPr marL="0" indent="0">
              <a:buNone/>
            </a:pPr>
            <a:r>
              <a:rPr lang="en-US" sz="14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区位与历史</a:t>
            </a:r>
            <a:endParaRPr lang="en-US" sz="1400" dirty="0"/>
          </a:p>
        </p:txBody>
      </p:sp>
      <p:sp>
        <p:nvSpPr>
          <p:cNvPr id="18" name="Text 16"/>
          <p:cNvSpPr/>
          <p:nvPr/>
        </p:nvSpPr>
        <p:spPr>
          <a:xfrm>
            <a:off x="5029200" y="1554480"/>
            <a:ext cx="3474720" cy="2926080"/>
          </a:xfrm>
          <a:prstGeom prst="rect">
            <a:avLst/>
          </a:prstGeom>
          <a:noFill/>
        </p:spPr>
        <p:txBody>
          <a:bodyPr wrap="square" rtlCol="0" anchor="t"/>
          <a:lstStyle/>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位于伶仃洋核心、珠江口主航道东侧</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东距澳门约15海里，北距香港大屿山约3海里</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原名"垃圾尾岛"，1954年为纪念万山海战"桂山号"更名</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下辖桂山村、桂海村两条传统渔村</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2024年成功创建国家4A级旅游景区</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广东省最大海水网箱养殖基地之一</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  核心问题意识</a:t>
            </a:r>
            <a:endParaRPr lang="en-US" sz="2000" dirty="0"/>
          </a:p>
        </p:txBody>
      </p:sp>
      <p:sp>
        <p:nvSpPr>
          <p:cNvPr id="4" name="Shape 2"/>
          <p:cNvSpPr/>
          <p:nvPr/>
        </p:nvSpPr>
        <p:spPr>
          <a:xfrm>
            <a:off x="1371600" y="1005840"/>
            <a:ext cx="6400800" cy="731520"/>
          </a:xfrm>
          <a:prstGeom prst="rect">
            <a:avLst/>
          </a:prstGeom>
          <a:solidFill>
            <a:srgbClr val="0D9488"/>
          </a:solidFill>
        </p:spPr>
      </p:sp>
      <p:sp>
        <p:nvSpPr>
          <p:cNvPr id="5" name="Text 3"/>
          <p:cNvSpPr/>
          <p:nvPr/>
        </p:nvSpPr>
        <p:spPr>
          <a:xfrm>
            <a:off x="1371600" y="1005840"/>
            <a:ext cx="6400800" cy="731520"/>
          </a:xfrm>
          <a:prstGeom prst="rect">
            <a:avLst/>
          </a:prstGeom>
          <a:noFill/>
        </p:spPr>
        <p:txBody>
          <a:bodyPr wrap="square" rtlCol="0" anchor="ctr"/>
          <a:lstStyle/>
          <a:p>
            <a:pPr marL="0" indent="0" algn="ctr">
              <a:buNone/>
            </a:pPr>
            <a:r>
              <a:rPr 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海岛型乡村如何在旅游开发与原真性保护之间实现可持续的空间治理？</a:t>
            </a:r>
            <a:endParaRPr lang="en-US" sz="1500" dirty="0"/>
          </a:p>
        </p:txBody>
      </p:sp>
      <p:sp>
        <p:nvSpPr>
          <p:cNvPr id="6" name="Shape 4"/>
          <p:cNvSpPr/>
          <p:nvPr/>
        </p:nvSpPr>
        <p:spPr>
          <a:xfrm>
            <a:off x="457200" y="2011680"/>
            <a:ext cx="2651760" cy="2834640"/>
          </a:xfrm>
          <a:prstGeom prst="rect">
            <a:avLst/>
          </a:prstGeom>
          <a:solidFill>
            <a:srgbClr val="FFFFFF"/>
          </a:solidFill>
          <a:effectLst>
            <a:outerShdw blurRad="50800" dist="19050" dir="8100000" algn="bl" rotWithShape="0">
              <a:srgbClr val="000000">
                <a:alpha val="8000"/>
              </a:srgbClr>
            </a:outerShdw>
          </a:effectLst>
        </p:spPr>
      </p:sp>
      <p:sp>
        <p:nvSpPr>
          <p:cNvPr id="7" name="Shape 5"/>
          <p:cNvSpPr/>
          <p:nvPr/>
        </p:nvSpPr>
        <p:spPr>
          <a:xfrm>
            <a:off x="457200" y="2011680"/>
            <a:ext cx="2651760" cy="54864"/>
          </a:xfrm>
          <a:prstGeom prst="rect">
            <a:avLst/>
          </a:prstGeom>
          <a:solidFill>
            <a:srgbClr val="2E5E8E"/>
          </a:solidFill>
        </p:spPr>
      </p:sp>
      <p:sp>
        <p:nvSpPr>
          <p:cNvPr id="8" name="Text 6"/>
          <p:cNvSpPr/>
          <p:nvPr/>
        </p:nvSpPr>
        <p:spPr>
          <a:xfrm>
            <a:off x="640080" y="2194560"/>
            <a:ext cx="2286000" cy="365760"/>
          </a:xfrm>
          <a:prstGeom prst="rect">
            <a:avLst/>
          </a:prstGeom>
          <a:noFill/>
        </p:spPr>
        <p:txBody>
          <a:bodyPr wrap="square" lIns="0" tIns="0" rIns="0" bIns="0" rtlCol="0" anchor="ctr"/>
          <a:lstStyle/>
          <a:p>
            <a:pPr marL="0" indent="0">
              <a:buNone/>
            </a:pPr>
            <a:r>
              <a:rPr lang="en-US" sz="14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空间结构</a:t>
            </a:r>
            <a:endParaRPr lang="en-US" sz="1400" dirty="0"/>
          </a:p>
        </p:txBody>
      </p:sp>
      <p:sp>
        <p:nvSpPr>
          <p:cNvPr id="9" name="Text 7"/>
          <p:cNvSpPr/>
          <p:nvPr/>
        </p:nvSpPr>
        <p:spPr>
          <a:xfrm>
            <a:off x="640080" y="2651760"/>
            <a:ext cx="2286000" cy="2011680"/>
          </a:xfrm>
          <a:prstGeom prst="rect">
            <a:avLst/>
          </a:prstGeom>
          <a:noFill/>
        </p:spPr>
        <p:txBody>
          <a:bodyPr wrap="square" lIns="0" tIns="0" rIns="0" bIns="0" rtlCol="0" anchor="t"/>
          <a:lstStyle/>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桂山岛空间句法特征如何？</a:t>
            </a:r>
            <a:endParaRPr lang="en-US" sz="1100" dirty="0"/>
          </a:p>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街巷网络的可达性与整合度</a:t>
            </a:r>
            <a:endParaRPr lang="en-US" sz="1100" dirty="0"/>
          </a:p>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是否支撑旅游流线的合理分布？</a:t>
            </a:r>
            <a:endParaRPr lang="en-US" sz="1100" dirty="0"/>
          </a:p>
        </p:txBody>
      </p:sp>
      <p:sp>
        <p:nvSpPr>
          <p:cNvPr id="10" name="Shape 8"/>
          <p:cNvSpPr/>
          <p:nvPr/>
        </p:nvSpPr>
        <p:spPr>
          <a:xfrm>
            <a:off x="3383280" y="2011680"/>
            <a:ext cx="2651760" cy="2834640"/>
          </a:xfrm>
          <a:prstGeom prst="rect">
            <a:avLst/>
          </a:prstGeom>
          <a:solidFill>
            <a:srgbClr val="FFFFFF"/>
          </a:solidFill>
          <a:effectLst>
            <a:outerShdw blurRad="50800" dist="19050" dir="8100000" algn="bl" rotWithShape="0">
              <a:srgbClr val="000000">
                <a:alpha val="8000"/>
              </a:srgbClr>
            </a:outerShdw>
          </a:effectLst>
        </p:spPr>
      </p:sp>
      <p:sp>
        <p:nvSpPr>
          <p:cNvPr id="11" name="Shape 9"/>
          <p:cNvSpPr/>
          <p:nvPr/>
        </p:nvSpPr>
        <p:spPr>
          <a:xfrm>
            <a:off x="3383280" y="2011680"/>
            <a:ext cx="2651760" cy="54864"/>
          </a:xfrm>
          <a:prstGeom prst="rect">
            <a:avLst/>
          </a:prstGeom>
          <a:solidFill>
            <a:srgbClr val="0D9488"/>
          </a:solidFill>
        </p:spPr>
      </p:sp>
      <p:sp>
        <p:nvSpPr>
          <p:cNvPr id="12" name="Text 10"/>
          <p:cNvSpPr/>
          <p:nvPr/>
        </p:nvSpPr>
        <p:spPr>
          <a:xfrm>
            <a:off x="3566160" y="2194560"/>
            <a:ext cx="2286000" cy="365760"/>
          </a:xfrm>
          <a:prstGeom prst="rect">
            <a:avLst/>
          </a:prstGeom>
          <a:noFill/>
        </p:spPr>
        <p:txBody>
          <a:bodyPr wrap="square" lIns="0" tIns="0" rIns="0" bIns="0" rtlCol="0" anchor="ctr"/>
          <a:lstStyle/>
          <a:p>
            <a:pPr marL="0" indent="0">
              <a:buNone/>
            </a:pPr>
            <a:r>
              <a:rPr lang="en-US" sz="14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产业转型</a:t>
            </a:r>
            <a:endParaRPr lang="en-US" sz="1400" dirty="0"/>
          </a:p>
        </p:txBody>
      </p:sp>
      <p:sp>
        <p:nvSpPr>
          <p:cNvPr id="13" name="Text 11"/>
          <p:cNvSpPr/>
          <p:nvPr/>
        </p:nvSpPr>
        <p:spPr>
          <a:xfrm>
            <a:off x="3566160" y="2651760"/>
            <a:ext cx="2286000" cy="2011680"/>
          </a:xfrm>
          <a:prstGeom prst="rect">
            <a:avLst/>
          </a:prstGeom>
          <a:noFill/>
        </p:spPr>
        <p:txBody>
          <a:bodyPr wrap="square" lIns="0" tIns="0" rIns="0" bIns="0" rtlCol="0" anchor="t"/>
          <a:lstStyle/>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渔业衰退后，民宿经济爆发式增长</a:t>
            </a:r>
            <a:endParaRPr lang="en-US" sz="1100" dirty="0"/>
          </a:p>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（20余家到近70家）带来了怎样的</a:t>
            </a:r>
            <a:endParaRPr lang="en-US" sz="1100" dirty="0"/>
          </a:p>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产业生态变化与社会空间重构？</a:t>
            </a:r>
            <a:endParaRPr lang="en-US" sz="1100" dirty="0"/>
          </a:p>
        </p:txBody>
      </p:sp>
      <p:sp>
        <p:nvSpPr>
          <p:cNvPr id="14" name="Shape 12"/>
          <p:cNvSpPr/>
          <p:nvPr/>
        </p:nvSpPr>
        <p:spPr>
          <a:xfrm>
            <a:off x="6309360" y="2011680"/>
            <a:ext cx="2651760" cy="2834640"/>
          </a:xfrm>
          <a:prstGeom prst="rect">
            <a:avLst/>
          </a:prstGeom>
          <a:solidFill>
            <a:srgbClr val="FFFFFF"/>
          </a:solidFill>
          <a:effectLst>
            <a:outerShdw blurRad="50800" dist="19050" dir="8100000" algn="bl" rotWithShape="0">
              <a:srgbClr val="000000">
                <a:alpha val="8000"/>
              </a:srgbClr>
            </a:outerShdw>
          </a:effectLst>
        </p:spPr>
      </p:sp>
      <p:sp>
        <p:nvSpPr>
          <p:cNvPr id="15" name="Shape 13"/>
          <p:cNvSpPr/>
          <p:nvPr/>
        </p:nvSpPr>
        <p:spPr>
          <a:xfrm>
            <a:off x="6309360" y="2011680"/>
            <a:ext cx="2651760" cy="54864"/>
          </a:xfrm>
          <a:prstGeom prst="rect">
            <a:avLst/>
          </a:prstGeom>
          <a:solidFill>
            <a:srgbClr val="E8913A"/>
          </a:solidFill>
        </p:spPr>
      </p:sp>
      <p:sp>
        <p:nvSpPr>
          <p:cNvPr id="16" name="Text 14"/>
          <p:cNvSpPr/>
          <p:nvPr/>
        </p:nvSpPr>
        <p:spPr>
          <a:xfrm>
            <a:off x="6492240" y="2194560"/>
            <a:ext cx="2286000" cy="365760"/>
          </a:xfrm>
          <a:prstGeom prst="rect">
            <a:avLst/>
          </a:prstGeom>
          <a:noFill/>
        </p:spPr>
        <p:txBody>
          <a:bodyPr wrap="square" lIns="0" tIns="0" rIns="0" bIns="0" rtlCol="0" anchor="ctr"/>
          <a:lstStyle/>
          <a:p>
            <a:pPr marL="0" indent="0">
              <a:buNone/>
            </a:pPr>
            <a:r>
              <a:rPr lang="en-US" sz="14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数据赋能</a:t>
            </a:r>
            <a:endParaRPr lang="en-US" sz="1400" dirty="0"/>
          </a:p>
        </p:txBody>
      </p:sp>
      <p:sp>
        <p:nvSpPr>
          <p:cNvPr id="17" name="Text 15"/>
          <p:cNvSpPr/>
          <p:nvPr/>
        </p:nvSpPr>
        <p:spPr>
          <a:xfrm>
            <a:off x="6492240" y="2651760"/>
            <a:ext cx="2286000" cy="2011680"/>
          </a:xfrm>
          <a:prstGeom prst="rect">
            <a:avLst/>
          </a:prstGeom>
          <a:noFill/>
        </p:spPr>
        <p:txBody>
          <a:bodyPr wrap="square" lIns="0" tIns="0" rIns="0" bIns="0" rtlCol="0" anchor="t"/>
          <a:lstStyle/>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如何通过多源数据（GIS、POI、</a:t>
            </a:r>
            <a:endParaRPr lang="en-US" sz="1100" dirty="0"/>
          </a:p>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社交媒体、问卷）构建海岛型乡村</a:t>
            </a:r>
            <a:endParaRPr lang="en-US" sz="1100" dirty="0"/>
          </a:p>
          <a:p>
            <a:pPr marL="0" indent="0">
              <a:lnSpc>
                <a:spcPct val="150000"/>
              </a:lnSpc>
              <a:buNone/>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的数字画像与治理决策支持？</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  研究框架：三大模块协同</a:t>
            </a:r>
            <a:endParaRPr lang="en-US" sz="2000" dirty="0"/>
          </a:p>
        </p:txBody>
      </p:sp>
      <p:sp>
        <p:nvSpPr>
          <p:cNvPr id="4" name="Shape 2"/>
          <p:cNvSpPr/>
          <p:nvPr/>
        </p:nvSpPr>
        <p:spPr>
          <a:xfrm>
            <a:off x="731520" y="1097280"/>
            <a:ext cx="7680960" cy="548640"/>
          </a:xfrm>
          <a:prstGeom prst="rect">
            <a:avLst/>
          </a:prstGeom>
        </p:spPr>
        <p:style>
          <a:lnRef idx="0">
            <a:srgbClr val="FFFFFF"/>
          </a:lnRef>
          <a:fillRef idx="1">
            <a:schemeClr val="accent1"/>
          </a:fillRef>
          <a:effectRef idx="1">
            <a:schemeClr val="accent1"/>
          </a:effectRef>
          <a:fontRef idx="minor">
            <a:schemeClr val="lt1"/>
          </a:fontRef>
        </p:style>
      </p:sp>
      <p:sp>
        <p:nvSpPr>
          <p:cNvPr id="5" name="Text 3"/>
          <p:cNvSpPr/>
          <p:nvPr/>
        </p:nvSpPr>
        <p:spPr>
          <a:xfrm>
            <a:off x="731520" y="1097280"/>
            <a:ext cx="7680960" cy="548640"/>
          </a:xfrm>
          <a:prstGeom prst="rect">
            <a:avLst/>
          </a:prstGeom>
          <a:noFill/>
        </p:spPr>
        <p:txBody>
          <a:bodyPr wrap="square"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海岛型乡村空间治理与可持续发展综合研究</a:t>
            </a:r>
            <a:endParaRPr lang="en-US" sz="1400" dirty="0"/>
          </a:p>
        </p:txBody>
      </p:sp>
      <p:sp>
        <p:nvSpPr>
          <p:cNvPr id="6" name="Shape 4"/>
          <p:cNvSpPr/>
          <p:nvPr/>
        </p:nvSpPr>
        <p:spPr>
          <a:xfrm>
            <a:off x="731520" y="1920240"/>
            <a:ext cx="2377440" cy="2560320"/>
          </a:xfrm>
          <a:prstGeom prst="rect">
            <a:avLst/>
          </a:prstGeom>
          <a:solidFill>
            <a:srgbClr val="FFFFFF"/>
          </a:solidFill>
          <a:effectLst>
            <a:outerShdw blurRad="50800" dist="19050" dir="8100000" algn="bl" rotWithShape="0">
              <a:srgbClr val="000000">
                <a:alpha val="8000"/>
              </a:srgbClr>
            </a:outerShdw>
          </a:effectLst>
        </p:spPr>
      </p:sp>
      <p:sp>
        <p:nvSpPr>
          <p:cNvPr id="7" name="Shape 5"/>
          <p:cNvSpPr/>
          <p:nvPr/>
        </p:nvSpPr>
        <p:spPr>
          <a:xfrm>
            <a:off x="731520" y="1920240"/>
            <a:ext cx="2377440" cy="502920"/>
          </a:xfrm>
          <a:prstGeom prst="rect">
            <a:avLst/>
          </a:prstGeom>
          <a:solidFill>
            <a:srgbClr val="2E5E8E"/>
          </a:solidFill>
        </p:spPr>
      </p:sp>
      <p:sp>
        <p:nvSpPr>
          <p:cNvPr id="8" name="Text 6"/>
          <p:cNvSpPr/>
          <p:nvPr/>
        </p:nvSpPr>
        <p:spPr>
          <a:xfrm>
            <a:off x="731520" y="1920240"/>
            <a:ext cx="2377440" cy="502920"/>
          </a:xfrm>
          <a:prstGeom prst="rect">
            <a:avLst/>
          </a:prstGeom>
          <a:noFill/>
        </p:spPr>
        <p:txBody>
          <a:bodyPr wrap="square" rtlCol="0" anchor="ctr"/>
          <a:lstStyle/>
          <a:p>
            <a:pPr marL="0" indent="0" algn="ctr">
              <a:buNone/>
            </a:pP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空间句法分析</a:t>
            </a:r>
            <a:endParaRPr lang="en-US" sz="1300" dirty="0"/>
          </a:p>
        </p:txBody>
      </p:sp>
      <p:sp>
        <p:nvSpPr>
          <p:cNvPr id="9" name="Text 7"/>
          <p:cNvSpPr/>
          <p:nvPr/>
        </p:nvSpPr>
        <p:spPr>
          <a:xfrm>
            <a:off x="868680" y="2514600"/>
            <a:ext cx="2103120" cy="1828800"/>
          </a:xfrm>
          <a:prstGeom prst="rect">
            <a:avLst/>
          </a:prstGeom>
          <a:noFill/>
        </p:spPr>
        <p:txBody>
          <a:bodyPr wrap="square" rtlCol="0" anchor="t"/>
          <a:lstStyle/>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街巷网络拓扑分析</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可达性/整合度计算</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空间-行为关联建模</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GIS空间数据采集</a:t>
            </a:r>
            <a:endParaRPr lang="en-US" sz="1100" dirty="0"/>
          </a:p>
        </p:txBody>
      </p:sp>
      <p:sp>
        <p:nvSpPr>
          <p:cNvPr id="10" name="Shape 8"/>
          <p:cNvSpPr/>
          <p:nvPr/>
        </p:nvSpPr>
        <p:spPr>
          <a:xfrm>
            <a:off x="3383280" y="1920240"/>
            <a:ext cx="2377440" cy="2560320"/>
          </a:xfrm>
          <a:prstGeom prst="rect">
            <a:avLst/>
          </a:prstGeom>
          <a:solidFill>
            <a:srgbClr val="FFFFFF"/>
          </a:solidFill>
          <a:effectLst>
            <a:outerShdw blurRad="50800" dist="19050" dir="8100000" algn="bl" rotWithShape="0">
              <a:srgbClr val="000000">
                <a:alpha val="8000"/>
              </a:srgbClr>
            </a:outerShdw>
          </a:effectLst>
        </p:spPr>
      </p:sp>
      <p:sp>
        <p:nvSpPr>
          <p:cNvPr id="11" name="Shape 9"/>
          <p:cNvSpPr/>
          <p:nvPr/>
        </p:nvSpPr>
        <p:spPr>
          <a:xfrm>
            <a:off x="3383280" y="1920240"/>
            <a:ext cx="2377440" cy="502920"/>
          </a:xfrm>
          <a:prstGeom prst="rect">
            <a:avLst/>
          </a:prstGeom>
          <a:solidFill>
            <a:srgbClr val="0D9488"/>
          </a:solidFill>
        </p:spPr>
      </p:sp>
      <p:sp>
        <p:nvSpPr>
          <p:cNvPr id="12" name="Text 10"/>
          <p:cNvSpPr/>
          <p:nvPr/>
        </p:nvSpPr>
        <p:spPr>
          <a:xfrm>
            <a:off x="3383280" y="1920240"/>
            <a:ext cx="2377440" cy="502920"/>
          </a:xfrm>
          <a:prstGeom prst="rect">
            <a:avLst/>
          </a:prstGeom>
          <a:noFill/>
        </p:spPr>
        <p:txBody>
          <a:bodyPr wrap="square" rtlCol="0" anchor="ctr"/>
          <a:lstStyle/>
          <a:p>
            <a:pPr marL="0" indent="0" algn="ctr">
              <a:buNone/>
            </a:pP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产业经济调研</a:t>
            </a:r>
            <a:endParaRPr lang="en-US" sz="1300" dirty="0"/>
          </a:p>
        </p:txBody>
      </p:sp>
      <p:sp>
        <p:nvSpPr>
          <p:cNvPr id="13" name="Text 11"/>
          <p:cNvSpPr/>
          <p:nvPr/>
        </p:nvSpPr>
        <p:spPr>
          <a:xfrm>
            <a:off x="3520440" y="2514600"/>
            <a:ext cx="2103120" cy="1828800"/>
          </a:xfrm>
          <a:prstGeom prst="rect">
            <a:avLst/>
          </a:prstGeom>
          <a:noFill/>
        </p:spPr>
        <p:txBody>
          <a:bodyPr wrap="square" rtlCol="0" anchor="t"/>
          <a:lstStyle/>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渔业转型与海洋牧场</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民宿经济产业链分析</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旅游消费行为调查</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乡村运营模式评估</a:t>
            </a:r>
            <a:endParaRPr lang="en-US" sz="1100" dirty="0"/>
          </a:p>
        </p:txBody>
      </p:sp>
      <p:sp>
        <p:nvSpPr>
          <p:cNvPr id="14" name="Shape 12"/>
          <p:cNvSpPr/>
          <p:nvPr/>
        </p:nvSpPr>
        <p:spPr>
          <a:xfrm>
            <a:off x="6035040" y="1920240"/>
            <a:ext cx="2377440" cy="2560320"/>
          </a:xfrm>
          <a:prstGeom prst="rect">
            <a:avLst/>
          </a:prstGeom>
          <a:solidFill>
            <a:srgbClr val="FFFFFF"/>
          </a:solidFill>
          <a:effectLst>
            <a:outerShdw blurRad="50800" dist="19050" dir="8100000" algn="bl" rotWithShape="0">
              <a:srgbClr val="000000">
                <a:alpha val="8000"/>
              </a:srgbClr>
            </a:outerShdw>
          </a:effectLst>
        </p:spPr>
      </p:sp>
      <p:sp>
        <p:nvSpPr>
          <p:cNvPr id="15" name="Shape 13"/>
          <p:cNvSpPr/>
          <p:nvPr/>
        </p:nvSpPr>
        <p:spPr>
          <a:xfrm>
            <a:off x="6035040" y="1920240"/>
            <a:ext cx="2377440" cy="502920"/>
          </a:xfrm>
          <a:prstGeom prst="rect">
            <a:avLst/>
          </a:prstGeom>
          <a:solidFill>
            <a:srgbClr val="E8913A"/>
          </a:solidFill>
        </p:spPr>
      </p:sp>
      <p:sp>
        <p:nvSpPr>
          <p:cNvPr id="16" name="Text 14"/>
          <p:cNvSpPr/>
          <p:nvPr/>
        </p:nvSpPr>
        <p:spPr>
          <a:xfrm>
            <a:off x="6035040" y="1920240"/>
            <a:ext cx="2377440" cy="502920"/>
          </a:xfrm>
          <a:prstGeom prst="rect">
            <a:avLst/>
          </a:prstGeom>
          <a:noFill/>
        </p:spPr>
        <p:txBody>
          <a:bodyPr wrap="square" rtlCol="0" anchor="ctr"/>
          <a:lstStyle/>
          <a:p>
            <a:pPr marL="0" indent="0" algn="ctr">
              <a:buNone/>
            </a:pP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数据治理研究</a:t>
            </a:r>
            <a:endParaRPr lang="en-US" sz="1300" dirty="0"/>
          </a:p>
        </p:txBody>
      </p:sp>
      <p:sp>
        <p:nvSpPr>
          <p:cNvPr id="17" name="Text 15"/>
          <p:cNvSpPr/>
          <p:nvPr/>
        </p:nvSpPr>
        <p:spPr>
          <a:xfrm>
            <a:off x="6172200" y="2514600"/>
            <a:ext cx="2103120" cy="1828800"/>
          </a:xfrm>
          <a:prstGeom prst="rect">
            <a:avLst/>
          </a:prstGeom>
          <a:noFill/>
        </p:spPr>
        <p:txBody>
          <a:bodyPr wrap="square" rtlCol="0" anchor="t"/>
          <a:lstStyle/>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多源异构数据融合</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POI与社交媒体挖掘</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居民/游客问卷分析</a:t>
            </a:r>
            <a:endParaRPr lang="en-US" sz="1100" dirty="0"/>
          </a:p>
          <a:p>
            <a:pPr marL="342900" indent="-342900">
              <a:lnSpc>
                <a:spcPct val="160000"/>
              </a:lnSpc>
              <a:spcAft>
                <a:spcPts val="4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数字治理框架构建</a:t>
            </a:r>
            <a:endParaRPr lang="en-US" sz="1100" dirty="0"/>
          </a:p>
        </p:txBody>
      </p:sp>
      <p:sp>
        <p:nvSpPr>
          <p:cNvPr id="18" name="Shape 16"/>
          <p:cNvSpPr/>
          <p:nvPr/>
        </p:nvSpPr>
        <p:spPr>
          <a:xfrm>
            <a:off x="731520" y="4663440"/>
            <a:ext cx="7680960" cy="365760"/>
          </a:xfrm>
          <a:prstGeom prst="rect">
            <a:avLst/>
          </a:prstGeom>
          <a:solidFill>
            <a:srgbClr val="EDF2F7"/>
          </a:solidFill>
        </p:spPr>
      </p:sp>
      <p:sp>
        <p:nvSpPr>
          <p:cNvPr id="19" name="Text 17"/>
          <p:cNvSpPr/>
          <p:nvPr/>
        </p:nvSpPr>
        <p:spPr>
          <a:xfrm>
            <a:off x="731520" y="4663440"/>
            <a:ext cx="7680960" cy="365760"/>
          </a:xfrm>
          <a:prstGeom prst="rect">
            <a:avLst/>
          </a:prstGeom>
          <a:noFill/>
        </p:spPr>
        <p:txBody>
          <a:bodyPr wrap="square" rtlCol="0" anchor="ctr"/>
          <a:lstStyle/>
          <a:p>
            <a:pPr marL="0" indent="0" algn="ctr">
              <a:buNone/>
            </a:pPr>
            <a:r>
              <a:rPr lang="en-US"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方法论基础：空间句法理论  +  混合研究方法（</a:t>
            </a:r>
            <a:r>
              <a:rPr lang="zh-CN" altLang="en-US"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规划</a:t>
            </a:r>
            <a:r>
              <a:rPr lang="en-US" altLang="zh-CN"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B</a:t>
            </a:r>
            <a:r>
              <a:rPr lang="en-US" sz="10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  +  数据驱动决策</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04  组内分工</a:t>
            </a:r>
            <a:endParaRPr lang="en-US" sz="2000" dirty="0"/>
          </a:p>
        </p:txBody>
      </p:sp>
      <p:sp>
        <p:nvSpPr>
          <p:cNvPr id="4" name="Shape 2"/>
          <p:cNvSpPr/>
          <p:nvPr/>
        </p:nvSpPr>
        <p:spPr>
          <a:xfrm>
            <a:off x="457200" y="100584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5" name="Shape 3"/>
          <p:cNvSpPr/>
          <p:nvPr/>
        </p:nvSpPr>
        <p:spPr>
          <a:xfrm>
            <a:off x="457200" y="1005840"/>
            <a:ext cx="54864" cy="1737360"/>
          </a:xfrm>
          <a:prstGeom prst="rect">
            <a:avLst/>
          </a:prstGeom>
          <a:solidFill>
            <a:srgbClr val="2E5E8E"/>
          </a:solidFill>
        </p:spPr>
      </p:sp>
      <p:sp>
        <p:nvSpPr>
          <p:cNvPr id="6" name="Text 4"/>
          <p:cNvSpPr/>
          <p:nvPr/>
        </p:nvSpPr>
        <p:spPr>
          <a:xfrm>
            <a:off x="640080" y="1097280"/>
            <a:ext cx="2194560" cy="320040"/>
          </a:xfrm>
          <a:prstGeom prst="rect">
            <a:avLst/>
          </a:prstGeom>
          <a:noFill/>
        </p:spPr>
        <p:txBody>
          <a:bodyPr wrap="square" lIns="0" tIns="0" rIns="0" bIns="0" rtlCol="0" anchor="ctr"/>
          <a:lstStyle/>
          <a:p>
            <a:pPr marL="0" indent="0">
              <a:buNone/>
            </a:pPr>
            <a:r>
              <a:rPr lang="en-US" sz="13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A  统筹协调</a:t>
            </a:r>
            <a:endParaRPr lang="en-US" sz="1300" dirty="0"/>
          </a:p>
        </p:txBody>
      </p:sp>
      <p:sp>
        <p:nvSpPr>
          <p:cNvPr id="7" name="Text 5"/>
          <p:cNvSpPr/>
          <p:nvPr/>
        </p:nvSpPr>
        <p:spPr>
          <a:xfrm>
            <a:off x="640080" y="1463040"/>
            <a:ext cx="2194560" cy="228600"/>
          </a:xfrm>
          <a:prstGeom prst="rect">
            <a:avLst/>
          </a:prstGeom>
          <a:noFill/>
        </p:spPr>
        <p:txBody>
          <a:bodyPr wrap="square" lIns="0" tIns="0" rIns="0" bIns="0" rtlCol="0" anchor="ctr"/>
          <a:lstStyle/>
          <a:p>
            <a:pPr marL="0" indent="0">
              <a:buNone/>
            </a:pPr>
            <a:r>
              <a:rPr lang="en-US" sz="9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空间句法方向</a:t>
            </a:r>
            <a:endParaRPr lang="en-US" sz="900" dirty="0"/>
          </a:p>
        </p:txBody>
      </p:sp>
      <p:sp>
        <p:nvSpPr>
          <p:cNvPr id="8" name="Text 6"/>
          <p:cNvSpPr/>
          <p:nvPr/>
        </p:nvSpPr>
        <p:spPr>
          <a:xfrm>
            <a:off x="640080" y="1737360"/>
            <a:ext cx="2194560" cy="86868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整体调度、对接老师</a:t>
            </a:r>
            <a:endParaRPr lang="en-US" sz="1050" dirty="0"/>
          </a:p>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汇总报告、空间分析</a:t>
            </a:r>
            <a:endParaRPr lang="en-US" sz="1050" dirty="0"/>
          </a:p>
        </p:txBody>
      </p:sp>
      <p:sp>
        <p:nvSpPr>
          <p:cNvPr id="9" name="Shape 7"/>
          <p:cNvSpPr/>
          <p:nvPr/>
        </p:nvSpPr>
        <p:spPr>
          <a:xfrm>
            <a:off x="3291840" y="100584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10" name="Shape 8"/>
          <p:cNvSpPr/>
          <p:nvPr/>
        </p:nvSpPr>
        <p:spPr>
          <a:xfrm>
            <a:off x="3291840" y="1005840"/>
            <a:ext cx="54864" cy="1737360"/>
          </a:xfrm>
          <a:prstGeom prst="rect">
            <a:avLst/>
          </a:prstGeom>
          <a:solidFill>
            <a:srgbClr val="2E5E8E"/>
          </a:solidFill>
        </p:spPr>
      </p:sp>
      <p:sp>
        <p:nvSpPr>
          <p:cNvPr id="11" name="Text 9"/>
          <p:cNvSpPr/>
          <p:nvPr/>
        </p:nvSpPr>
        <p:spPr>
          <a:xfrm>
            <a:off x="3474720" y="1097280"/>
            <a:ext cx="2194560" cy="320040"/>
          </a:xfrm>
          <a:prstGeom prst="rect">
            <a:avLst/>
          </a:prstGeom>
          <a:noFill/>
        </p:spPr>
        <p:txBody>
          <a:bodyPr wrap="square" lIns="0" tIns="0" rIns="0" bIns="0" rtlCol="0" anchor="ctr"/>
          <a:lstStyle/>
          <a:p>
            <a:pPr marL="0" indent="0">
              <a:buNone/>
            </a:pPr>
            <a:r>
              <a:rPr lang="en-US" sz="13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B  空间记录</a:t>
            </a:r>
            <a:endParaRPr lang="en-US" sz="1300" dirty="0"/>
          </a:p>
        </p:txBody>
      </p:sp>
      <p:sp>
        <p:nvSpPr>
          <p:cNvPr id="12" name="Text 10"/>
          <p:cNvSpPr/>
          <p:nvPr/>
        </p:nvSpPr>
        <p:spPr>
          <a:xfrm>
            <a:off x="3474720" y="1463040"/>
            <a:ext cx="2194560" cy="228600"/>
          </a:xfrm>
          <a:prstGeom prst="rect">
            <a:avLst/>
          </a:prstGeom>
          <a:noFill/>
        </p:spPr>
        <p:txBody>
          <a:bodyPr wrap="square" lIns="0" tIns="0" rIns="0" bIns="0" rtlCol="0" anchor="ctr"/>
          <a:lstStyle/>
          <a:p>
            <a:pPr marL="0" indent="0">
              <a:buNone/>
            </a:pPr>
            <a:r>
              <a:rPr lang="en-US" sz="9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空间句法方向</a:t>
            </a:r>
            <a:endParaRPr lang="en-US" sz="900" dirty="0"/>
          </a:p>
        </p:txBody>
      </p:sp>
      <p:sp>
        <p:nvSpPr>
          <p:cNvPr id="13" name="Text 11"/>
          <p:cNvSpPr/>
          <p:nvPr/>
        </p:nvSpPr>
        <p:spPr>
          <a:xfrm>
            <a:off x="3474720" y="1737360"/>
            <a:ext cx="2194560" cy="86868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建筑测绘、街道测绘</a:t>
            </a:r>
            <a:endParaRPr lang="en-US" sz="1050" dirty="0"/>
          </a:p>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空间句法模型构建</a:t>
            </a:r>
            <a:endParaRPr lang="en-US" sz="1050" dirty="0"/>
          </a:p>
        </p:txBody>
      </p:sp>
      <p:sp>
        <p:nvSpPr>
          <p:cNvPr id="14" name="Shape 12"/>
          <p:cNvSpPr/>
          <p:nvPr/>
        </p:nvSpPr>
        <p:spPr>
          <a:xfrm>
            <a:off x="6126480" y="100584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15" name="Shape 13"/>
          <p:cNvSpPr/>
          <p:nvPr/>
        </p:nvSpPr>
        <p:spPr>
          <a:xfrm>
            <a:off x="6126480" y="1005840"/>
            <a:ext cx="54864" cy="1737360"/>
          </a:xfrm>
          <a:prstGeom prst="rect">
            <a:avLst/>
          </a:prstGeom>
          <a:solidFill>
            <a:srgbClr val="0D9488"/>
          </a:solidFill>
        </p:spPr>
      </p:sp>
      <p:sp>
        <p:nvSpPr>
          <p:cNvPr id="16" name="Text 14"/>
          <p:cNvSpPr/>
          <p:nvPr/>
        </p:nvSpPr>
        <p:spPr>
          <a:xfrm>
            <a:off x="6309360" y="1097280"/>
            <a:ext cx="2194560" cy="320040"/>
          </a:xfrm>
          <a:prstGeom prst="rect">
            <a:avLst/>
          </a:prstGeom>
          <a:noFill/>
        </p:spPr>
        <p:txBody>
          <a:bodyPr wrap="square" lIns="0" tIns="0" rIns="0" bIns="0" rtlCol="0" anchor="ctr"/>
          <a:lstStyle/>
          <a:p>
            <a:pPr marL="0" indent="0">
              <a:buNone/>
            </a:pPr>
            <a:r>
              <a:rPr lang="en-US" sz="13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C  产业调研</a:t>
            </a:r>
            <a:endParaRPr lang="en-US" sz="1300" dirty="0"/>
          </a:p>
        </p:txBody>
      </p:sp>
      <p:sp>
        <p:nvSpPr>
          <p:cNvPr id="17" name="Text 15"/>
          <p:cNvSpPr/>
          <p:nvPr/>
        </p:nvSpPr>
        <p:spPr>
          <a:xfrm>
            <a:off x="6309360" y="1463040"/>
            <a:ext cx="2194560" cy="228600"/>
          </a:xfrm>
          <a:prstGeom prst="rect">
            <a:avLst/>
          </a:prstGeom>
          <a:noFill/>
        </p:spPr>
        <p:txBody>
          <a:bodyPr wrap="square" lIns="0" tIns="0" rIns="0" bIns="0" rtlCol="0" anchor="ctr"/>
          <a:lstStyle/>
          <a:p>
            <a:pPr marL="0" indent="0">
              <a:buNone/>
            </a:pPr>
            <a:r>
              <a:rPr lang="en-US" sz="9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产业经济方向</a:t>
            </a:r>
            <a:endParaRPr lang="en-US" sz="900" dirty="0"/>
          </a:p>
        </p:txBody>
      </p:sp>
      <p:sp>
        <p:nvSpPr>
          <p:cNvPr id="18" name="Text 16"/>
          <p:cNvSpPr/>
          <p:nvPr/>
        </p:nvSpPr>
        <p:spPr>
          <a:xfrm>
            <a:off x="6309360" y="1737360"/>
            <a:ext cx="2194560" cy="86868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商户走访、产业链分析</a:t>
            </a:r>
            <a:endParaRPr lang="en-US" sz="1050" dirty="0"/>
          </a:p>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乡村运营评估</a:t>
            </a:r>
            <a:endParaRPr lang="en-US" sz="1050" dirty="0"/>
          </a:p>
        </p:txBody>
      </p:sp>
      <p:sp>
        <p:nvSpPr>
          <p:cNvPr id="19" name="Shape 17"/>
          <p:cNvSpPr/>
          <p:nvPr/>
        </p:nvSpPr>
        <p:spPr>
          <a:xfrm>
            <a:off x="457200" y="301752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20" name="Shape 18"/>
          <p:cNvSpPr/>
          <p:nvPr/>
        </p:nvSpPr>
        <p:spPr>
          <a:xfrm>
            <a:off x="457200" y="3017520"/>
            <a:ext cx="54864" cy="1737360"/>
          </a:xfrm>
          <a:prstGeom prst="rect">
            <a:avLst/>
          </a:prstGeom>
          <a:solidFill>
            <a:srgbClr val="0D9488"/>
          </a:solidFill>
        </p:spPr>
      </p:sp>
      <p:sp>
        <p:nvSpPr>
          <p:cNvPr id="21" name="Text 19"/>
          <p:cNvSpPr/>
          <p:nvPr/>
        </p:nvSpPr>
        <p:spPr>
          <a:xfrm>
            <a:off x="640080" y="3108960"/>
            <a:ext cx="2194560" cy="320040"/>
          </a:xfrm>
          <a:prstGeom prst="rect">
            <a:avLst/>
          </a:prstGeom>
          <a:noFill/>
        </p:spPr>
        <p:txBody>
          <a:bodyPr wrap="square" lIns="0" tIns="0" rIns="0" bIns="0" rtlCol="0" anchor="ctr"/>
          <a:lstStyle/>
          <a:p>
            <a:pPr marL="0" indent="0">
              <a:buNone/>
            </a:pPr>
            <a:r>
              <a:rPr lang="en-US" sz="13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D  经济访谈</a:t>
            </a:r>
            <a:endParaRPr lang="en-US" sz="1300" dirty="0"/>
          </a:p>
        </p:txBody>
      </p:sp>
      <p:sp>
        <p:nvSpPr>
          <p:cNvPr id="22" name="Text 20"/>
          <p:cNvSpPr/>
          <p:nvPr/>
        </p:nvSpPr>
        <p:spPr>
          <a:xfrm>
            <a:off x="640080" y="3474720"/>
            <a:ext cx="2194560" cy="228600"/>
          </a:xfrm>
          <a:prstGeom prst="rect">
            <a:avLst/>
          </a:prstGeom>
          <a:noFill/>
        </p:spPr>
        <p:txBody>
          <a:bodyPr wrap="square" lIns="0" tIns="0" rIns="0" bIns="0" rtlCol="0" anchor="ctr"/>
          <a:lstStyle/>
          <a:p>
            <a:pPr marL="0" indent="0">
              <a:buNone/>
            </a:pPr>
            <a:r>
              <a:rPr lang="en-US" sz="9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产业经济方向</a:t>
            </a:r>
            <a:endParaRPr lang="en-US" sz="900" dirty="0"/>
          </a:p>
        </p:txBody>
      </p:sp>
      <p:sp>
        <p:nvSpPr>
          <p:cNvPr id="23" name="Text 21"/>
          <p:cNvSpPr/>
          <p:nvPr/>
        </p:nvSpPr>
        <p:spPr>
          <a:xfrm>
            <a:off x="640080" y="3749040"/>
            <a:ext cx="2194560" cy="86868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渔民/民宿主访谈</a:t>
            </a:r>
            <a:endParaRPr lang="en-US" sz="1050" dirty="0"/>
          </a:p>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消费行为问卷</a:t>
            </a:r>
            <a:endParaRPr lang="en-US" sz="1050" dirty="0"/>
          </a:p>
        </p:txBody>
      </p:sp>
      <p:sp>
        <p:nvSpPr>
          <p:cNvPr id="24" name="Shape 22"/>
          <p:cNvSpPr/>
          <p:nvPr/>
        </p:nvSpPr>
        <p:spPr>
          <a:xfrm>
            <a:off x="3291840" y="301752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25" name="Shape 23"/>
          <p:cNvSpPr/>
          <p:nvPr/>
        </p:nvSpPr>
        <p:spPr>
          <a:xfrm>
            <a:off x="3291840" y="3017520"/>
            <a:ext cx="54864" cy="1737360"/>
          </a:xfrm>
          <a:prstGeom prst="rect">
            <a:avLst/>
          </a:prstGeom>
          <a:solidFill>
            <a:srgbClr val="E8913A"/>
          </a:solidFill>
        </p:spPr>
      </p:sp>
      <p:sp>
        <p:nvSpPr>
          <p:cNvPr id="26" name="Text 24"/>
          <p:cNvSpPr/>
          <p:nvPr/>
        </p:nvSpPr>
        <p:spPr>
          <a:xfrm>
            <a:off x="3474720" y="3108960"/>
            <a:ext cx="2194560" cy="320040"/>
          </a:xfrm>
          <a:prstGeom prst="rect">
            <a:avLst/>
          </a:prstGeom>
          <a:noFill/>
        </p:spPr>
        <p:txBody>
          <a:bodyPr wrap="square" lIns="0" tIns="0" rIns="0" bIns="0" rtlCol="0" anchor="ctr"/>
          <a:lstStyle/>
          <a:p>
            <a:pPr marL="0" indent="0">
              <a:buNone/>
            </a:pPr>
            <a:r>
              <a:rPr lang="en-US" sz="13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E  数据技术</a:t>
            </a:r>
            <a:endParaRPr lang="en-US" sz="1300" dirty="0"/>
          </a:p>
        </p:txBody>
      </p:sp>
      <p:sp>
        <p:nvSpPr>
          <p:cNvPr id="27" name="Text 25"/>
          <p:cNvSpPr/>
          <p:nvPr/>
        </p:nvSpPr>
        <p:spPr>
          <a:xfrm>
            <a:off x="3474720" y="3474720"/>
            <a:ext cx="2194560" cy="228600"/>
          </a:xfrm>
          <a:prstGeom prst="rect">
            <a:avLst/>
          </a:prstGeom>
          <a:noFill/>
        </p:spPr>
        <p:txBody>
          <a:bodyPr wrap="square" lIns="0" tIns="0" rIns="0" bIns="0" rtlCol="0" anchor="ctr"/>
          <a:lstStyle/>
          <a:p>
            <a:pPr marL="0" indent="0">
              <a:buNone/>
            </a:pPr>
            <a:r>
              <a:rPr lang="en-US" sz="9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数据治理方向</a:t>
            </a:r>
            <a:endParaRPr lang="en-US" sz="900" dirty="0"/>
          </a:p>
        </p:txBody>
      </p:sp>
      <p:sp>
        <p:nvSpPr>
          <p:cNvPr id="28" name="Text 26"/>
          <p:cNvSpPr/>
          <p:nvPr/>
        </p:nvSpPr>
        <p:spPr>
          <a:xfrm>
            <a:off x="3474720" y="3749040"/>
            <a:ext cx="2194560" cy="86868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GIS采集、POI标注</a:t>
            </a:r>
            <a:endParaRPr lang="en-US" sz="1050" dirty="0"/>
          </a:p>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问卷数字化、数据清洗</a:t>
            </a:r>
            <a:endParaRPr lang="en-US" sz="1050" dirty="0"/>
          </a:p>
        </p:txBody>
      </p:sp>
      <p:sp>
        <p:nvSpPr>
          <p:cNvPr id="29" name="Shape 27"/>
          <p:cNvSpPr/>
          <p:nvPr/>
        </p:nvSpPr>
        <p:spPr>
          <a:xfrm>
            <a:off x="6126480" y="301752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30" name="Shape 28"/>
          <p:cNvSpPr/>
          <p:nvPr/>
        </p:nvSpPr>
        <p:spPr>
          <a:xfrm>
            <a:off x="6126480" y="3017520"/>
            <a:ext cx="54864" cy="1737360"/>
          </a:xfrm>
          <a:prstGeom prst="rect">
            <a:avLst/>
          </a:prstGeom>
          <a:solidFill>
            <a:srgbClr val="E8913A"/>
          </a:solidFill>
        </p:spPr>
      </p:sp>
      <p:sp>
        <p:nvSpPr>
          <p:cNvPr id="31" name="Text 29"/>
          <p:cNvSpPr/>
          <p:nvPr/>
        </p:nvSpPr>
        <p:spPr>
          <a:xfrm>
            <a:off x="6309360" y="3108960"/>
            <a:ext cx="2194560" cy="320040"/>
          </a:xfrm>
          <a:prstGeom prst="rect">
            <a:avLst/>
          </a:prstGeom>
          <a:noFill/>
        </p:spPr>
        <p:txBody>
          <a:bodyPr wrap="square" lIns="0" tIns="0" rIns="0" bIns="0" rtlCol="0" anchor="ctr"/>
          <a:lstStyle/>
          <a:p>
            <a:pPr marL="0" indent="0">
              <a:buNone/>
            </a:pPr>
            <a:r>
              <a:rPr lang="en-US" sz="13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F  影像记录</a:t>
            </a:r>
            <a:endParaRPr lang="en-US" sz="1300" dirty="0"/>
          </a:p>
        </p:txBody>
      </p:sp>
      <p:sp>
        <p:nvSpPr>
          <p:cNvPr id="32" name="Text 30"/>
          <p:cNvSpPr/>
          <p:nvPr/>
        </p:nvSpPr>
        <p:spPr>
          <a:xfrm>
            <a:off x="6309360" y="3474720"/>
            <a:ext cx="2194560" cy="228600"/>
          </a:xfrm>
          <a:prstGeom prst="rect">
            <a:avLst/>
          </a:prstGeom>
          <a:noFill/>
        </p:spPr>
        <p:txBody>
          <a:bodyPr wrap="square" lIns="0" tIns="0" rIns="0" bIns="0" rtlCol="0" anchor="ctr"/>
          <a:lstStyle/>
          <a:p>
            <a:pPr marL="0" indent="0">
              <a:buNone/>
            </a:pPr>
            <a:r>
              <a:rPr lang="en-US" sz="900"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数据治理方向</a:t>
            </a:r>
            <a:endParaRPr lang="en-US" sz="900" dirty="0"/>
          </a:p>
        </p:txBody>
      </p:sp>
      <p:sp>
        <p:nvSpPr>
          <p:cNvPr id="33" name="Text 31"/>
          <p:cNvSpPr/>
          <p:nvPr/>
        </p:nvSpPr>
        <p:spPr>
          <a:xfrm>
            <a:off x="6309360" y="3749040"/>
            <a:ext cx="2194560" cy="86868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全景摄影、视频记录</a:t>
            </a:r>
            <a:endParaRPr lang="en-US" sz="1050" dirty="0"/>
          </a:p>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航拍素材、社区访谈</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05  调研方法总览</a:t>
            </a:r>
            <a:endParaRPr lang="en-US" sz="2000" dirty="0"/>
          </a:p>
        </p:txBody>
      </p:sp>
      <p:sp>
        <p:nvSpPr>
          <p:cNvPr id="4" name="Shape 2"/>
          <p:cNvSpPr/>
          <p:nvPr>
            <p:custDataLst>
              <p:tags r:id="rId1"/>
            </p:custDataLst>
          </p:nvPr>
        </p:nvSpPr>
        <p:spPr>
          <a:xfrm>
            <a:off x="457200" y="1005840"/>
            <a:ext cx="4023360" cy="1188720"/>
          </a:xfrm>
          <a:prstGeom prst="rect">
            <a:avLst/>
          </a:prstGeom>
          <a:solidFill>
            <a:srgbClr val="FFFFFF"/>
          </a:solidFill>
          <a:effectLst>
            <a:outerShdw blurRad="50800" dist="19050" dir="8100000" algn="bl" rotWithShape="0">
              <a:srgbClr val="000000">
                <a:alpha val="8000"/>
              </a:srgbClr>
            </a:outerShdw>
          </a:effectLst>
        </p:spPr>
      </p:sp>
      <p:sp>
        <p:nvSpPr>
          <p:cNvPr id="5" name="Shape 3"/>
          <p:cNvSpPr/>
          <p:nvPr>
            <p:custDataLst>
              <p:tags r:id="rId2"/>
            </p:custDataLst>
          </p:nvPr>
        </p:nvSpPr>
        <p:spPr>
          <a:xfrm>
            <a:off x="457200" y="1005840"/>
            <a:ext cx="54864" cy="1188720"/>
          </a:xfrm>
          <a:prstGeom prst="rect">
            <a:avLst/>
          </a:prstGeom>
          <a:solidFill>
            <a:srgbClr val="2E5E8E"/>
          </a:solidFill>
        </p:spPr>
      </p:sp>
      <p:sp>
        <p:nvSpPr>
          <p:cNvPr id="6" name="Text 4"/>
          <p:cNvSpPr/>
          <p:nvPr>
            <p:custDataLst>
              <p:tags r:id="rId3"/>
            </p:custDataLst>
          </p:nvPr>
        </p:nvSpPr>
        <p:spPr>
          <a:xfrm>
            <a:off x="640080" y="1051560"/>
            <a:ext cx="3657600" cy="274320"/>
          </a:xfrm>
          <a:prstGeom prst="rect">
            <a:avLst/>
          </a:prstGeom>
          <a:noFill/>
        </p:spPr>
        <p:txBody>
          <a:bodyPr wrap="square" lIns="0" tIns="0" rIns="0" bIns="0" rtlCol="0" anchor="ctr"/>
          <a:lstStyle/>
          <a:p>
            <a:pPr marL="0" indent="0">
              <a:buNone/>
            </a:pPr>
            <a:r>
              <a:rPr lang="en-US" sz="12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空间句法分析</a:t>
            </a:r>
            <a:endParaRPr lang="en-US" sz="1200" dirty="0"/>
          </a:p>
        </p:txBody>
      </p:sp>
      <p:sp>
        <p:nvSpPr>
          <p:cNvPr id="7" name="Text 5"/>
          <p:cNvSpPr/>
          <p:nvPr>
            <p:custDataLst>
              <p:tags r:id="rId4"/>
            </p:custDataLst>
          </p:nvPr>
        </p:nvSpPr>
        <p:spPr>
          <a:xfrm>
            <a:off x="640080" y="1325880"/>
            <a:ext cx="3657600" cy="548640"/>
          </a:xfrm>
          <a:prstGeom prst="rect">
            <a:avLst/>
          </a:prstGeom>
          <a:noFill/>
        </p:spPr>
        <p:txBody>
          <a:bodyPr wrap="square" lIns="0" tIns="0" rIns="0" bIns="0" rtlCol="0" anchor="t"/>
          <a:lstStyle/>
          <a:p>
            <a:pPr marL="0" indent="0">
              <a:lnSpc>
                <a:spcPct val="140000"/>
              </a:lnSpc>
              <a:buNone/>
            </a:pPr>
            <a:r>
              <a:rPr lang="en-US" sz="9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运用Depthmap/Axiaxomine对桂山岛街巷网络进行凸面分析和轴线分析，计算整合度、可达性、智能度等指标，揭示空间结构特征。</a:t>
            </a:r>
            <a:endParaRPr lang="en-US" sz="950" dirty="0"/>
          </a:p>
        </p:txBody>
      </p:sp>
      <p:sp>
        <p:nvSpPr>
          <p:cNvPr id="8" name="Text 6"/>
          <p:cNvSpPr/>
          <p:nvPr>
            <p:custDataLst>
              <p:tags r:id="rId5"/>
            </p:custDataLst>
          </p:nvPr>
        </p:nvSpPr>
        <p:spPr>
          <a:xfrm>
            <a:off x="640080" y="1901952"/>
            <a:ext cx="3657600" cy="228600"/>
          </a:xfrm>
          <a:prstGeom prst="rect">
            <a:avLst/>
          </a:prstGeom>
          <a:noFill/>
        </p:spPr>
        <p:txBody>
          <a:bodyPr wrap="square" lIns="0" tIns="0" rIns="0" bIns="0" rtlCol="0" anchor="ctr"/>
          <a:lstStyle/>
          <a:p>
            <a:pPr marL="0" indent="0">
              <a:buNone/>
            </a:pPr>
            <a:r>
              <a:rPr 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数据来源：实地测绘 + 高德卫星图 + OSM</a:t>
            </a:r>
            <a:endParaRPr lang="en-US" sz="850" dirty="0"/>
          </a:p>
        </p:txBody>
      </p:sp>
      <p:sp>
        <p:nvSpPr>
          <p:cNvPr id="9" name="Shape 7"/>
          <p:cNvSpPr/>
          <p:nvPr>
            <p:custDataLst>
              <p:tags r:id="rId6"/>
            </p:custDataLst>
          </p:nvPr>
        </p:nvSpPr>
        <p:spPr>
          <a:xfrm>
            <a:off x="4754880" y="1005840"/>
            <a:ext cx="4023360" cy="1188720"/>
          </a:xfrm>
          <a:prstGeom prst="rect">
            <a:avLst/>
          </a:prstGeom>
          <a:solidFill>
            <a:srgbClr val="FFFFFF"/>
          </a:solidFill>
          <a:effectLst>
            <a:outerShdw blurRad="50800" dist="19050" dir="8100000" algn="bl" rotWithShape="0">
              <a:srgbClr val="000000">
                <a:alpha val="8000"/>
              </a:srgbClr>
            </a:outerShdw>
          </a:effectLst>
        </p:spPr>
      </p:sp>
      <p:sp>
        <p:nvSpPr>
          <p:cNvPr id="10" name="Shape 8"/>
          <p:cNvSpPr/>
          <p:nvPr>
            <p:custDataLst>
              <p:tags r:id="rId7"/>
            </p:custDataLst>
          </p:nvPr>
        </p:nvSpPr>
        <p:spPr>
          <a:xfrm>
            <a:off x="4754880" y="1005840"/>
            <a:ext cx="54864" cy="1188720"/>
          </a:xfrm>
          <a:prstGeom prst="rect">
            <a:avLst/>
          </a:prstGeom>
          <a:solidFill>
            <a:srgbClr val="0D9488"/>
          </a:solidFill>
        </p:spPr>
      </p:sp>
      <p:sp>
        <p:nvSpPr>
          <p:cNvPr id="11" name="Text 9"/>
          <p:cNvSpPr/>
          <p:nvPr>
            <p:custDataLst>
              <p:tags r:id="rId8"/>
            </p:custDataLst>
          </p:nvPr>
        </p:nvSpPr>
        <p:spPr>
          <a:xfrm>
            <a:off x="4937760" y="1051560"/>
            <a:ext cx="3657600" cy="274320"/>
          </a:xfrm>
          <a:prstGeom prst="rect">
            <a:avLst/>
          </a:prstGeom>
          <a:noFill/>
        </p:spPr>
        <p:txBody>
          <a:bodyPr wrap="square" lIns="0" tIns="0" rIns="0" bIns="0" rtlCol="0" anchor="ctr"/>
          <a:lstStyle/>
          <a:p>
            <a:pPr marL="0" indent="0">
              <a:buNone/>
            </a:pPr>
            <a:r>
              <a:rPr lang="en-US" sz="1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半结构化访谈</a:t>
            </a:r>
            <a:endParaRPr lang="en-US" sz="1200" dirty="0"/>
          </a:p>
        </p:txBody>
      </p:sp>
      <p:sp>
        <p:nvSpPr>
          <p:cNvPr id="12" name="Text 10"/>
          <p:cNvSpPr/>
          <p:nvPr>
            <p:custDataLst>
              <p:tags r:id="rId9"/>
            </p:custDataLst>
          </p:nvPr>
        </p:nvSpPr>
        <p:spPr>
          <a:xfrm>
            <a:off x="4937760" y="1325880"/>
            <a:ext cx="3657600" cy="548640"/>
          </a:xfrm>
          <a:prstGeom prst="rect">
            <a:avLst/>
          </a:prstGeom>
          <a:noFill/>
        </p:spPr>
        <p:txBody>
          <a:bodyPr wrap="square" lIns="0" tIns="0" rIns="0" bIns="0" rtlCol="0" anchor="t"/>
          <a:lstStyle/>
          <a:p>
            <a:pPr marL="0" indent="0">
              <a:lnSpc>
                <a:spcPct val="140000"/>
              </a:lnSpc>
              <a:buNone/>
            </a:pPr>
            <a:r>
              <a:rPr lang="en-US" sz="9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针对渔民、民宿经营者、村委会干部、游客四类群体设计差异化访谈提纲，覆盖生计转型、空间感知、社区治理等维度。</a:t>
            </a:r>
            <a:endParaRPr lang="en-US" sz="950" dirty="0"/>
          </a:p>
        </p:txBody>
      </p:sp>
      <p:sp>
        <p:nvSpPr>
          <p:cNvPr id="13" name="Text 11"/>
          <p:cNvSpPr/>
          <p:nvPr>
            <p:custDataLst>
              <p:tags r:id="rId10"/>
            </p:custDataLst>
          </p:nvPr>
        </p:nvSpPr>
        <p:spPr>
          <a:xfrm>
            <a:off x="4937760" y="1901952"/>
            <a:ext cx="3657600" cy="228600"/>
          </a:xfrm>
          <a:prstGeom prst="rect">
            <a:avLst/>
          </a:prstGeom>
          <a:noFill/>
        </p:spPr>
        <p:txBody>
          <a:bodyPr wrap="square" lIns="0" tIns="0" rIns="0" bIns="0" rtlCol="0" anchor="ctr"/>
          <a:lstStyle/>
          <a:p>
            <a:pPr marL="0" indent="0">
              <a:buNone/>
            </a:pPr>
            <a:r>
              <a:rPr 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目标样本：居民15-20人，游客20-30人</a:t>
            </a:r>
            <a:endParaRPr lang="en-US" sz="850" dirty="0"/>
          </a:p>
        </p:txBody>
      </p:sp>
      <p:sp>
        <p:nvSpPr>
          <p:cNvPr id="14" name="Shape 12"/>
          <p:cNvSpPr/>
          <p:nvPr>
            <p:custDataLst>
              <p:tags r:id="rId11"/>
            </p:custDataLst>
          </p:nvPr>
        </p:nvSpPr>
        <p:spPr>
          <a:xfrm>
            <a:off x="457200" y="2377440"/>
            <a:ext cx="4023360" cy="1188720"/>
          </a:xfrm>
          <a:prstGeom prst="rect">
            <a:avLst/>
          </a:prstGeom>
          <a:solidFill>
            <a:srgbClr val="FFFFFF"/>
          </a:solidFill>
          <a:effectLst>
            <a:outerShdw blurRad="50800" dist="19050" dir="8100000" algn="bl" rotWithShape="0">
              <a:srgbClr val="000000">
                <a:alpha val="8000"/>
              </a:srgbClr>
            </a:outerShdw>
          </a:effectLst>
        </p:spPr>
      </p:sp>
      <p:sp>
        <p:nvSpPr>
          <p:cNvPr id="15" name="Shape 13"/>
          <p:cNvSpPr/>
          <p:nvPr>
            <p:custDataLst>
              <p:tags r:id="rId12"/>
            </p:custDataLst>
          </p:nvPr>
        </p:nvSpPr>
        <p:spPr>
          <a:xfrm>
            <a:off x="457200" y="2377440"/>
            <a:ext cx="54864" cy="1188720"/>
          </a:xfrm>
          <a:prstGeom prst="rect">
            <a:avLst/>
          </a:prstGeom>
          <a:solidFill>
            <a:srgbClr val="E8913A"/>
          </a:solidFill>
        </p:spPr>
      </p:sp>
      <p:sp>
        <p:nvSpPr>
          <p:cNvPr id="16" name="Text 14"/>
          <p:cNvSpPr/>
          <p:nvPr>
            <p:custDataLst>
              <p:tags r:id="rId13"/>
            </p:custDataLst>
          </p:nvPr>
        </p:nvSpPr>
        <p:spPr>
          <a:xfrm>
            <a:off x="640080" y="2423160"/>
            <a:ext cx="3657600" cy="274320"/>
          </a:xfrm>
          <a:prstGeom prst="rect">
            <a:avLst/>
          </a:prstGeom>
          <a:noFill/>
        </p:spPr>
        <p:txBody>
          <a:bodyPr wrap="square" lIns="0" tIns="0" rIns="0" bIns="0" rtlCol="0" anchor="ctr"/>
          <a:lstStyle/>
          <a:p>
            <a:pPr marL="0" indent="0">
              <a:buNone/>
            </a:pPr>
            <a:r>
              <a:rPr lang="en-US" sz="12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GIS数据采集</a:t>
            </a:r>
            <a:endParaRPr lang="en-US" sz="1200" dirty="0"/>
          </a:p>
        </p:txBody>
      </p:sp>
      <p:sp>
        <p:nvSpPr>
          <p:cNvPr id="17" name="Text 15"/>
          <p:cNvSpPr/>
          <p:nvPr>
            <p:custDataLst>
              <p:tags r:id="rId14"/>
            </p:custDataLst>
          </p:nvPr>
        </p:nvSpPr>
        <p:spPr>
          <a:xfrm>
            <a:off x="640080" y="2697480"/>
            <a:ext cx="3657600" cy="548640"/>
          </a:xfrm>
          <a:prstGeom prst="rect">
            <a:avLst/>
          </a:prstGeom>
          <a:noFill/>
        </p:spPr>
        <p:txBody>
          <a:bodyPr wrap="square" lIns="0" tIns="0" rIns="0" bIns="0" rtlCol="0" anchor="t"/>
          <a:lstStyle/>
          <a:p>
            <a:pPr marL="0" indent="0">
              <a:lnSpc>
                <a:spcPct val="140000"/>
              </a:lnSpc>
              <a:buNone/>
            </a:pPr>
            <a:r>
              <a:rPr lang="zh-CN" altLang="en-US" sz="9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下载</a:t>
            </a:r>
            <a:r>
              <a:rPr lang="en-US" sz="9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POI数据（景点、餐饮、住宿、交通），结合GPS轨迹记录，构建海岛空间数据库，支撑定量分析。</a:t>
            </a:r>
            <a:endParaRPr lang="en-US" sz="950" dirty="0"/>
          </a:p>
        </p:txBody>
      </p:sp>
      <p:sp>
        <p:nvSpPr>
          <p:cNvPr id="18" name="Text 16"/>
          <p:cNvSpPr/>
          <p:nvPr>
            <p:custDataLst>
              <p:tags r:id="rId15"/>
            </p:custDataLst>
          </p:nvPr>
        </p:nvSpPr>
        <p:spPr>
          <a:xfrm>
            <a:off x="640080" y="3273552"/>
            <a:ext cx="3657600" cy="228600"/>
          </a:xfrm>
          <a:prstGeom prst="rect">
            <a:avLst/>
          </a:prstGeom>
          <a:noFill/>
        </p:spPr>
        <p:txBody>
          <a:bodyPr wrap="square" lIns="0" tIns="0" rIns="0" bIns="0" rtlCol="0" anchor="ctr"/>
          <a:lstStyle/>
          <a:p>
            <a:pPr marL="0" indent="0">
              <a:buNone/>
            </a:pPr>
            <a:r>
              <a:rPr 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工具：Arcgis map </a:t>
            </a:r>
            <a:r>
              <a:rPr lang="zh-CN" alt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百度地图</a:t>
            </a:r>
            <a:r>
              <a:rPr lang="en-US" altLang="zh-CN"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  </a:t>
            </a:r>
            <a:endParaRPr lang="en-US" altLang="zh-CN"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7"/>
          <p:cNvSpPr/>
          <p:nvPr>
            <p:custDataLst>
              <p:tags r:id="rId16"/>
            </p:custDataLst>
          </p:nvPr>
        </p:nvSpPr>
        <p:spPr>
          <a:xfrm>
            <a:off x="4754880" y="2377440"/>
            <a:ext cx="4023360" cy="1188720"/>
          </a:xfrm>
          <a:prstGeom prst="rect">
            <a:avLst/>
          </a:prstGeom>
          <a:solidFill>
            <a:srgbClr val="FFFFFF"/>
          </a:solidFill>
          <a:effectLst>
            <a:outerShdw blurRad="50800" dist="19050" dir="8100000" algn="bl" rotWithShape="0">
              <a:srgbClr val="000000">
                <a:alpha val="8000"/>
              </a:srgbClr>
            </a:outerShdw>
          </a:effectLst>
        </p:spPr>
      </p:sp>
      <p:sp>
        <p:nvSpPr>
          <p:cNvPr id="20" name="Shape 18"/>
          <p:cNvSpPr/>
          <p:nvPr>
            <p:custDataLst>
              <p:tags r:id="rId17"/>
            </p:custDataLst>
          </p:nvPr>
        </p:nvSpPr>
        <p:spPr>
          <a:xfrm>
            <a:off x="4754880" y="2377440"/>
            <a:ext cx="54864" cy="1188720"/>
          </a:xfrm>
          <a:prstGeom prst="rect">
            <a:avLst/>
          </a:prstGeom>
          <a:solidFill>
            <a:srgbClr val="2E5E8E"/>
          </a:solidFill>
        </p:spPr>
      </p:sp>
      <p:sp>
        <p:nvSpPr>
          <p:cNvPr id="21" name="Text 19"/>
          <p:cNvSpPr/>
          <p:nvPr>
            <p:custDataLst>
              <p:tags r:id="rId18"/>
            </p:custDataLst>
          </p:nvPr>
        </p:nvSpPr>
        <p:spPr>
          <a:xfrm>
            <a:off x="4937760" y="2423160"/>
            <a:ext cx="3657600" cy="274320"/>
          </a:xfrm>
          <a:prstGeom prst="rect">
            <a:avLst/>
          </a:prstGeom>
          <a:noFill/>
        </p:spPr>
        <p:txBody>
          <a:bodyPr wrap="square" lIns="0" tIns="0" rIns="0" bIns="0" rtlCol="0" anchor="ctr"/>
          <a:lstStyle/>
          <a:p>
            <a:pPr marL="0" indent="0">
              <a:buNone/>
            </a:pPr>
            <a:r>
              <a:rPr lang="en-US" sz="12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问卷调查</a:t>
            </a:r>
            <a:endParaRPr lang="en-US" sz="1200" dirty="0"/>
          </a:p>
        </p:txBody>
      </p:sp>
      <p:sp>
        <p:nvSpPr>
          <p:cNvPr id="22" name="Text 20"/>
          <p:cNvSpPr/>
          <p:nvPr>
            <p:custDataLst>
              <p:tags r:id="rId19"/>
            </p:custDataLst>
          </p:nvPr>
        </p:nvSpPr>
        <p:spPr>
          <a:xfrm>
            <a:off x="4937760" y="2697480"/>
            <a:ext cx="3657600" cy="548640"/>
          </a:xfrm>
          <a:prstGeom prst="rect">
            <a:avLst/>
          </a:prstGeom>
          <a:noFill/>
        </p:spPr>
        <p:txBody>
          <a:bodyPr wrap="square" lIns="0" tIns="0" rIns="0" bIns="0" rtlCol="0" anchor="t"/>
          <a:lstStyle/>
          <a:p>
            <a:pPr marL="0" indent="0">
              <a:lnSpc>
                <a:spcPct val="140000"/>
              </a:lnSpc>
              <a:buNone/>
            </a:pPr>
            <a:r>
              <a:rPr lang="en-US" sz="9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设计游客满意度与消费行为问卷、居民生活质量和空间感知问卷，采用Likert五级量表，线上线下结合发放。</a:t>
            </a:r>
            <a:endParaRPr lang="en-US" sz="950" dirty="0"/>
          </a:p>
        </p:txBody>
      </p:sp>
      <p:sp>
        <p:nvSpPr>
          <p:cNvPr id="23" name="Text 21"/>
          <p:cNvSpPr/>
          <p:nvPr>
            <p:custDataLst>
              <p:tags r:id="rId20"/>
            </p:custDataLst>
          </p:nvPr>
        </p:nvSpPr>
        <p:spPr>
          <a:xfrm>
            <a:off x="4937760" y="3273552"/>
            <a:ext cx="3657600" cy="228600"/>
          </a:xfrm>
          <a:prstGeom prst="rect">
            <a:avLst/>
          </a:prstGeom>
          <a:noFill/>
        </p:spPr>
        <p:txBody>
          <a:bodyPr wrap="square" lIns="0" tIns="0" rIns="0" bIns="0" rtlCol="0" anchor="ctr"/>
          <a:lstStyle/>
          <a:p>
            <a:pPr marL="0" indent="0">
              <a:buNone/>
            </a:pPr>
            <a:r>
              <a:rPr 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计划发放：10-20</a:t>
            </a:r>
            <a:r>
              <a:rPr lang="zh-CN" alt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（居民游客比例</a:t>
            </a:r>
            <a:r>
              <a:rPr lang="en-US" altLang="zh-CN"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3</a:t>
            </a:r>
            <a:r>
              <a:rPr lang="zh-CN" alt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a:t>
            </a:r>
            <a:r>
              <a:rPr lang="en-US" altLang="zh-CN"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4</a:t>
            </a:r>
            <a:r>
              <a:rPr lang="zh-CN" alt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a:t>
            </a:r>
            <a:endParaRPr lang="zh-CN" alt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Shape 22"/>
          <p:cNvSpPr/>
          <p:nvPr>
            <p:custDataLst>
              <p:tags r:id="rId21"/>
            </p:custDataLst>
          </p:nvPr>
        </p:nvSpPr>
        <p:spPr>
          <a:xfrm>
            <a:off x="457200" y="3749040"/>
            <a:ext cx="4023360" cy="1188720"/>
          </a:xfrm>
          <a:prstGeom prst="rect">
            <a:avLst/>
          </a:prstGeom>
          <a:solidFill>
            <a:srgbClr val="FFFFFF"/>
          </a:solidFill>
          <a:effectLst>
            <a:outerShdw blurRad="50800" dist="19050" dir="8100000" algn="bl" rotWithShape="0">
              <a:srgbClr val="000000">
                <a:alpha val="8000"/>
              </a:srgbClr>
            </a:outerShdw>
          </a:effectLst>
        </p:spPr>
      </p:sp>
      <p:sp>
        <p:nvSpPr>
          <p:cNvPr id="25" name="Shape 23"/>
          <p:cNvSpPr/>
          <p:nvPr>
            <p:custDataLst>
              <p:tags r:id="rId22"/>
            </p:custDataLst>
          </p:nvPr>
        </p:nvSpPr>
        <p:spPr>
          <a:xfrm>
            <a:off x="457200" y="3749040"/>
            <a:ext cx="54864" cy="1188720"/>
          </a:xfrm>
          <a:prstGeom prst="rect">
            <a:avLst/>
          </a:prstGeom>
          <a:solidFill>
            <a:srgbClr val="0D9488"/>
          </a:solidFill>
        </p:spPr>
      </p:sp>
      <p:sp>
        <p:nvSpPr>
          <p:cNvPr id="26" name="Text 24"/>
          <p:cNvSpPr/>
          <p:nvPr>
            <p:custDataLst>
              <p:tags r:id="rId23"/>
            </p:custDataLst>
          </p:nvPr>
        </p:nvSpPr>
        <p:spPr>
          <a:xfrm>
            <a:off x="640080" y="3794760"/>
            <a:ext cx="3657600" cy="274320"/>
          </a:xfrm>
          <a:prstGeom prst="rect">
            <a:avLst/>
          </a:prstGeom>
          <a:noFill/>
        </p:spPr>
        <p:txBody>
          <a:bodyPr wrap="square" lIns="0" tIns="0" rIns="0" bIns="0" rtlCol="0" anchor="ctr"/>
          <a:lstStyle/>
          <a:p>
            <a:pPr marL="0" indent="0">
              <a:buNone/>
            </a:pPr>
            <a:r>
              <a:rPr lang="en-US" sz="1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参与式观察</a:t>
            </a:r>
            <a:endParaRPr lang="en-US" sz="1200" dirty="0"/>
          </a:p>
        </p:txBody>
      </p:sp>
      <p:sp>
        <p:nvSpPr>
          <p:cNvPr id="27" name="Text 25"/>
          <p:cNvSpPr/>
          <p:nvPr>
            <p:custDataLst>
              <p:tags r:id="rId24"/>
            </p:custDataLst>
          </p:nvPr>
        </p:nvSpPr>
        <p:spPr>
          <a:xfrm>
            <a:off x="640080" y="4069080"/>
            <a:ext cx="3657600" cy="548640"/>
          </a:xfrm>
          <a:prstGeom prst="rect">
            <a:avLst/>
          </a:prstGeom>
          <a:noFill/>
        </p:spPr>
        <p:txBody>
          <a:bodyPr wrap="square" lIns="0" tIns="0" rIns="0" bIns="0" rtlCol="0" anchor="t"/>
          <a:lstStyle/>
          <a:p>
            <a:pPr marL="0" indent="0">
              <a:lnSpc>
                <a:spcPct val="140000"/>
              </a:lnSpc>
              <a:buNone/>
            </a:pPr>
            <a:r>
              <a:rPr lang="en-US" sz="9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跟随渔民出海、参与民宿经营日常、观察游客行为模式，获取第一手质性数据，补充问卷与访谈的结构化信息。</a:t>
            </a:r>
            <a:endParaRPr lang="en-US" sz="950" dirty="0"/>
          </a:p>
        </p:txBody>
      </p:sp>
      <p:sp>
        <p:nvSpPr>
          <p:cNvPr id="28" name="Text 26"/>
          <p:cNvSpPr/>
          <p:nvPr>
            <p:custDataLst>
              <p:tags r:id="rId25"/>
            </p:custDataLst>
          </p:nvPr>
        </p:nvSpPr>
        <p:spPr>
          <a:xfrm>
            <a:off x="640080" y="4645152"/>
            <a:ext cx="3657600" cy="228600"/>
          </a:xfrm>
          <a:prstGeom prst="rect">
            <a:avLst/>
          </a:prstGeom>
          <a:noFill/>
        </p:spPr>
        <p:txBody>
          <a:bodyPr wrap="square" lIns="0" tIns="0" rIns="0" bIns="0" rtlCol="0" anchor="ctr"/>
          <a:lstStyle/>
          <a:p>
            <a:pPr marL="0" indent="0">
              <a:buNone/>
            </a:pPr>
            <a:r>
              <a:rPr 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记录方式：田野</a:t>
            </a:r>
            <a:r>
              <a:rPr lang="zh-CN" alt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调查法</a:t>
            </a:r>
            <a:r>
              <a:rPr 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 + 影像日志</a:t>
            </a:r>
            <a:endParaRPr lang="en-US" sz="850" dirty="0"/>
          </a:p>
        </p:txBody>
      </p:sp>
      <p:sp>
        <p:nvSpPr>
          <p:cNvPr id="29" name="Shape 27"/>
          <p:cNvSpPr/>
          <p:nvPr>
            <p:custDataLst>
              <p:tags r:id="rId26"/>
            </p:custDataLst>
          </p:nvPr>
        </p:nvSpPr>
        <p:spPr>
          <a:xfrm>
            <a:off x="4754880" y="3749040"/>
            <a:ext cx="4023360" cy="1188720"/>
          </a:xfrm>
          <a:prstGeom prst="rect">
            <a:avLst/>
          </a:prstGeom>
          <a:solidFill>
            <a:srgbClr val="FFFFFF"/>
          </a:solidFill>
          <a:effectLst>
            <a:outerShdw blurRad="50800" dist="19050" dir="8100000" algn="bl" rotWithShape="0">
              <a:srgbClr val="000000">
                <a:alpha val="8000"/>
              </a:srgbClr>
            </a:outerShdw>
          </a:effectLst>
        </p:spPr>
      </p:sp>
      <p:sp>
        <p:nvSpPr>
          <p:cNvPr id="30" name="Shape 28"/>
          <p:cNvSpPr/>
          <p:nvPr>
            <p:custDataLst>
              <p:tags r:id="rId27"/>
            </p:custDataLst>
          </p:nvPr>
        </p:nvSpPr>
        <p:spPr>
          <a:xfrm>
            <a:off x="4754880" y="3749040"/>
            <a:ext cx="54864" cy="1188720"/>
          </a:xfrm>
          <a:prstGeom prst="rect">
            <a:avLst/>
          </a:prstGeom>
          <a:solidFill>
            <a:srgbClr val="E8913A"/>
          </a:solidFill>
        </p:spPr>
      </p:sp>
      <p:sp>
        <p:nvSpPr>
          <p:cNvPr id="31" name="Text 29"/>
          <p:cNvSpPr/>
          <p:nvPr>
            <p:custDataLst>
              <p:tags r:id="rId28"/>
            </p:custDataLst>
          </p:nvPr>
        </p:nvSpPr>
        <p:spPr>
          <a:xfrm>
            <a:off x="4937760" y="3794760"/>
            <a:ext cx="3657600" cy="274320"/>
          </a:xfrm>
          <a:prstGeom prst="rect">
            <a:avLst/>
          </a:prstGeom>
          <a:noFill/>
        </p:spPr>
        <p:txBody>
          <a:bodyPr wrap="square" lIns="0" tIns="0" rIns="0" bIns="0" rtlCol="0" anchor="ctr"/>
          <a:lstStyle/>
          <a:p>
            <a:pPr marL="0" indent="0">
              <a:buNone/>
            </a:pPr>
            <a:r>
              <a:rPr lang="en-US" sz="12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文献与案例对比</a:t>
            </a:r>
            <a:endParaRPr lang="en-US" sz="1200" dirty="0"/>
          </a:p>
        </p:txBody>
      </p:sp>
      <p:sp>
        <p:nvSpPr>
          <p:cNvPr id="32" name="Text 30"/>
          <p:cNvSpPr/>
          <p:nvPr>
            <p:custDataLst>
              <p:tags r:id="rId29"/>
            </p:custDataLst>
          </p:nvPr>
        </p:nvSpPr>
        <p:spPr>
          <a:xfrm>
            <a:off x="4937760" y="4069080"/>
            <a:ext cx="3657600" cy="548640"/>
          </a:xfrm>
          <a:prstGeom prst="rect">
            <a:avLst/>
          </a:prstGeom>
          <a:noFill/>
        </p:spPr>
        <p:txBody>
          <a:bodyPr wrap="square" lIns="0" tIns="0" rIns="0" bIns="0" rtlCol="0" anchor="t"/>
          <a:lstStyle/>
          <a:p>
            <a:pPr marL="0" indent="0">
              <a:lnSpc>
                <a:spcPct val="140000"/>
              </a:lnSpc>
              <a:buNone/>
            </a:pPr>
            <a:r>
              <a:rPr lang="en-US" sz="9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梳理海岛型乡村空间治理文献，对比国内外相似案例（如浙江舟山、福建平潭、日本的的离岛），提炼可借鉴经验。</a:t>
            </a:r>
            <a:endParaRPr lang="en-US" sz="950" dirty="0"/>
          </a:p>
        </p:txBody>
      </p:sp>
      <p:sp>
        <p:nvSpPr>
          <p:cNvPr id="33" name="Text 31"/>
          <p:cNvSpPr/>
          <p:nvPr>
            <p:custDataLst>
              <p:tags r:id="rId30"/>
            </p:custDataLst>
          </p:nvPr>
        </p:nvSpPr>
        <p:spPr>
          <a:xfrm>
            <a:off x="4937760" y="4645152"/>
            <a:ext cx="3657600" cy="228600"/>
          </a:xfrm>
          <a:prstGeom prst="rect">
            <a:avLst/>
          </a:prstGeom>
          <a:noFill/>
        </p:spPr>
        <p:txBody>
          <a:bodyPr wrap="square" lIns="0" tIns="0" rIns="0" bIns="0" rtlCol="0" anchor="ctr"/>
          <a:lstStyle/>
          <a:p>
            <a:pPr marL="0" indent="0">
              <a:buNone/>
            </a:pPr>
            <a:r>
              <a:rPr lang="en-US" sz="850" i="1" dirty="0">
                <a:solidFill>
                  <a:srgbClr val="64748B"/>
                </a:solidFill>
                <a:latin typeface="微软雅黑" panose="020B0503020204020204" pitchFamily="34" charset="-122"/>
                <a:ea typeface="微软雅黑" panose="020B0503020204020204" pitchFamily="34" charset="-122"/>
                <a:cs typeface="微软雅黑" panose="020B0503020204020204" pitchFamily="34" charset="-120"/>
              </a:rPr>
              <a:t>对标案例：舟山嵊泗 / 平潭岛 / 日本离岛</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06  模块一：空间句法分析</a:t>
            </a:r>
            <a:endParaRPr lang="en-US" sz="2000" dirty="0"/>
          </a:p>
        </p:txBody>
      </p:sp>
      <p:sp>
        <p:nvSpPr>
          <p:cNvPr id="4" name="Shape 2"/>
          <p:cNvSpPr/>
          <p:nvPr/>
        </p:nvSpPr>
        <p:spPr>
          <a:xfrm>
            <a:off x="457200" y="1005840"/>
            <a:ext cx="4114800" cy="3840480"/>
          </a:xfrm>
          <a:prstGeom prst="rect">
            <a:avLst/>
          </a:prstGeom>
          <a:solidFill>
            <a:srgbClr val="FFFFFF"/>
          </a:solidFill>
          <a:effectLst>
            <a:outerShdw blurRad="50800" dist="19050" dir="8100000" algn="bl" rotWithShape="0">
              <a:srgbClr val="000000">
                <a:alpha val="8000"/>
              </a:srgbClr>
            </a:outerShdw>
          </a:effectLst>
        </p:spPr>
      </p:sp>
      <p:sp>
        <p:nvSpPr>
          <p:cNvPr id="5" name="Text 3"/>
          <p:cNvSpPr/>
          <p:nvPr/>
        </p:nvSpPr>
        <p:spPr>
          <a:xfrm>
            <a:off x="640080" y="1097280"/>
            <a:ext cx="3749040" cy="320040"/>
          </a:xfrm>
          <a:prstGeom prst="rect">
            <a:avLst/>
          </a:prstGeom>
          <a:noFill/>
        </p:spPr>
        <p:txBody>
          <a:bodyPr wrap="square" lIns="0" tIns="0" rIns="0" bIns="0" rtlCol="0" anchor="ctr"/>
          <a:lstStyle/>
          <a:p>
            <a:pPr marL="0" indent="0">
              <a:buNone/>
            </a:pPr>
            <a:r>
              <a:rPr lang="en-US" sz="14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调研内容</a:t>
            </a:r>
            <a:endParaRPr lang="en-US" sz="1400" dirty="0"/>
          </a:p>
        </p:txBody>
      </p:sp>
      <p:sp>
        <p:nvSpPr>
          <p:cNvPr id="6" name="Text 4"/>
          <p:cNvSpPr/>
          <p:nvPr/>
        </p:nvSpPr>
        <p:spPr>
          <a:xfrm>
            <a:off x="640080" y="1508760"/>
            <a:ext cx="3749040" cy="3108960"/>
          </a:xfrm>
          <a:prstGeom prst="rect">
            <a:avLst/>
          </a:prstGeom>
          <a:noFill/>
        </p:spPr>
        <p:txBody>
          <a:bodyPr wrap="square" rtlCol="0" anchor="t"/>
          <a:lstStyle/>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街巷网络拓扑：凸面分析 + 轴线分析</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整合度与可达性：全局/局部整合度、选择度</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空间-功能关联：景点/商业分布与空间结构耦合</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人流分布热力图：GPS轨迹与空间句法预测对比</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建筑形态测绘：传统石屋保护与民宿改造空间影响</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公共空间活力：灯塔、沙滩、广场等节点空间分析</a:t>
            </a:r>
            <a:endParaRPr lang="en-US" sz="1100" dirty="0"/>
          </a:p>
        </p:txBody>
      </p:sp>
      <p:sp>
        <p:nvSpPr>
          <p:cNvPr id="7" name="Shape 5"/>
          <p:cNvSpPr/>
          <p:nvPr/>
        </p:nvSpPr>
        <p:spPr>
          <a:xfrm>
            <a:off x="4846320" y="1005840"/>
            <a:ext cx="3840480" cy="1828800"/>
          </a:xfrm>
          <a:prstGeom prst="rect">
            <a:avLst/>
          </a:prstGeom>
          <a:solidFill>
            <a:srgbClr val="FFFFFF"/>
          </a:solidFill>
          <a:effectLst>
            <a:outerShdw blurRad="50800" dist="19050" dir="8100000" algn="bl" rotWithShape="0">
              <a:srgbClr val="000000">
                <a:alpha val="8000"/>
              </a:srgbClr>
            </a:outerShdw>
          </a:effectLst>
        </p:spPr>
      </p:sp>
      <p:sp>
        <p:nvSpPr>
          <p:cNvPr id="8" name="Text 6"/>
          <p:cNvSpPr/>
          <p:nvPr/>
        </p:nvSpPr>
        <p:spPr>
          <a:xfrm>
            <a:off x="5029200" y="1097280"/>
            <a:ext cx="3474720" cy="320040"/>
          </a:xfrm>
          <a:prstGeom prst="rect">
            <a:avLst/>
          </a:prstGeom>
          <a:noFill/>
        </p:spPr>
        <p:txBody>
          <a:bodyPr wrap="square" lIns="0" tIns="0" rIns="0" bIns="0" rtlCol="0" anchor="ctr"/>
          <a:lstStyle/>
          <a:p>
            <a:pPr marL="0" indent="0">
              <a:buNone/>
            </a:pPr>
            <a:r>
              <a:rPr lang="en-US" sz="14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调查方法</a:t>
            </a:r>
            <a:endParaRPr lang="en-US" sz="1400" dirty="0"/>
          </a:p>
        </p:txBody>
      </p:sp>
      <p:sp>
        <p:nvSpPr>
          <p:cNvPr id="9" name="Text 7"/>
          <p:cNvSpPr/>
          <p:nvPr/>
        </p:nvSpPr>
        <p:spPr>
          <a:xfrm>
            <a:off x="5029200" y="1508760"/>
            <a:ext cx="3474720" cy="1188720"/>
          </a:xfrm>
          <a:prstGeom prst="rect">
            <a:avLst/>
          </a:prstGeom>
          <a:noFill/>
        </p:spPr>
        <p:txBody>
          <a:bodyPr wrap="square" rtlCol="0" anchor="t"/>
          <a:lstStyle/>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DepthmapX / Axiaxomine 空间句法建模</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高德卫星图提取路网 + OSM校正</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实地步行GPS轨迹记录（奥维互动地图）</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建筑立面与街景拍照记录</a:t>
            </a:r>
            <a:endParaRPr lang="en-US" sz="1050" dirty="0"/>
          </a:p>
        </p:txBody>
      </p:sp>
      <p:sp>
        <p:nvSpPr>
          <p:cNvPr id="10" name="Shape 8"/>
          <p:cNvSpPr/>
          <p:nvPr/>
        </p:nvSpPr>
        <p:spPr>
          <a:xfrm>
            <a:off x="4846320" y="3017520"/>
            <a:ext cx="3840480" cy="1828800"/>
          </a:xfrm>
          <a:prstGeom prst="rect">
            <a:avLst/>
          </a:prstGeom>
          <a:solidFill>
            <a:srgbClr val="FFFFFF"/>
          </a:solidFill>
          <a:effectLst>
            <a:outerShdw blurRad="50800" dist="19050" dir="8100000" algn="bl" rotWithShape="0">
              <a:srgbClr val="000000">
                <a:alpha val="8000"/>
              </a:srgbClr>
            </a:outerShdw>
          </a:effectLst>
        </p:spPr>
      </p:sp>
      <p:sp>
        <p:nvSpPr>
          <p:cNvPr id="11" name="Text 9"/>
          <p:cNvSpPr/>
          <p:nvPr/>
        </p:nvSpPr>
        <p:spPr>
          <a:xfrm>
            <a:off x="5029200" y="3108960"/>
            <a:ext cx="3474720" cy="320040"/>
          </a:xfrm>
          <a:prstGeom prst="rect">
            <a:avLst/>
          </a:prstGeom>
          <a:noFill/>
        </p:spPr>
        <p:txBody>
          <a:bodyPr wrap="square" lIns="0" tIns="0" rIns="0" bIns="0" rtlCol="0" anchor="ctr"/>
          <a:lstStyle/>
          <a:p>
            <a:pPr marL="0" indent="0">
              <a:buNone/>
            </a:pPr>
            <a:r>
              <a:rPr lang="en-US" sz="14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负责人与产出</a:t>
            </a:r>
            <a:endParaRPr lang="en-US" sz="1400" dirty="0"/>
          </a:p>
        </p:txBody>
      </p:sp>
      <p:sp>
        <p:nvSpPr>
          <p:cNvPr id="12" name="Text 10"/>
          <p:cNvSpPr/>
          <p:nvPr/>
        </p:nvSpPr>
        <p:spPr>
          <a:xfrm>
            <a:off x="5029200" y="3520440"/>
            <a:ext cx="3474720" cy="1188720"/>
          </a:xfrm>
          <a:prstGeom prst="rect">
            <a:avLst/>
          </a:prstGeom>
          <a:noFill/>
        </p:spPr>
        <p:txBody>
          <a:bodyPr wrap="square" rtlCol="0" anchor="t"/>
          <a:lstStyle/>
          <a:p>
            <a:pPr marL="0" indent="0">
              <a:lnSpc>
                <a:spcPct val="150000"/>
              </a:lnSpc>
              <a:spcAft>
                <a:spcPts val="200"/>
              </a:spcAft>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负责：A（统筹协调） + B（空间记录）</a:t>
            </a:r>
            <a:endParaRPr lang="en-US" sz="1050" dirty="0"/>
          </a:p>
          <a:p>
            <a:pPr indent="0">
              <a:lnSpc>
                <a:spcPct val="150000"/>
              </a:lnSpc>
              <a:spcAft>
                <a:spcPts val="200"/>
              </a:spcAft>
              <a:buSzPct val="100000"/>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桂山岛空间句法分析报告（含轴线图、凸面图）</a:t>
            </a:r>
            <a:endParaRPr lang="en-US" sz="1050" dirty="0"/>
          </a:p>
          <a:p>
            <a:pPr indent="0">
              <a:lnSpc>
                <a:spcPct val="150000"/>
              </a:lnSpc>
              <a:spcAft>
                <a:spcPts val="200"/>
              </a:spcAft>
              <a:buSzPct val="100000"/>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空间-功能耦合分析图</a:t>
            </a:r>
            <a:endParaRPr lang="en-US" sz="1050" dirty="0"/>
          </a:p>
          <a:p>
            <a:pPr indent="0">
              <a:lnSpc>
                <a:spcPct val="150000"/>
              </a:lnSpc>
              <a:spcAft>
                <a:spcPts val="200"/>
              </a:spcAft>
              <a:buSzPct val="100000"/>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人流热力对比图</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07  模块二：产业经济调研</a:t>
            </a:r>
            <a:endParaRPr lang="en-US" sz="2000" dirty="0"/>
          </a:p>
        </p:txBody>
      </p:sp>
      <p:sp>
        <p:nvSpPr>
          <p:cNvPr id="4" name="Shape 2"/>
          <p:cNvSpPr/>
          <p:nvPr/>
        </p:nvSpPr>
        <p:spPr>
          <a:xfrm>
            <a:off x="457200" y="1005840"/>
            <a:ext cx="4114800" cy="3840480"/>
          </a:xfrm>
          <a:prstGeom prst="rect">
            <a:avLst/>
          </a:prstGeom>
          <a:solidFill>
            <a:srgbClr val="FFFFFF"/>
          </a:solidFill>
          <a:effectLst>
            <a:outerShdw blurRad="50800" dist="19050" dir="8100000" algn="bl" rotWithShape="0">
              <a:srgbClr val="000000">
                <a:alpha val="8000"/>
              </a:srgbClr>
            </a:outerShdw>
          </a:effectLst>
        </p:spPr>
      </p:sp>
      <p:sp>
        <p:nvSpPr>
          <p:cNvPr id="5" name="Text 3"/>
          <p:cNvSpPr/>
          <p:nvPr/>
        </p:nvSpPr>
        <p:spPr>
          <a:xfrm>
            <a:off x="640080" y="1097280"/>
            <a:ext cx="3749040" cy="320040"/>
          </a:xfrm>
          <a:prstGeom prst="rect">
            <a:avLst/>
          </a:prstGeom>
          <a:noFill/>
        </p:spPr>
        <p:txBody>
          <a:bodyPr wrap="square" lIns="0" tIns="0" rIns="0" bIns="0" rtlCol="0" anchor="ctr"/>
          <a:lstStyle/>
          <a:p>
            <a:pPr marL="0" indent="0">
              <a:buNone/>
            </a:pPr>
            <a:r>
              <a:rPr lang="en-US" sz="14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调研内容</a:t>
            </a:r>
            <a:endParaRPr lang="en-US" sz="1400" dirty="0"/>
          </a:p>
        </p:txBody>
      </p:sp>
      <p:sp>
        <p:nvSpPr>
          <p:cNvPr id="6" name="Text 4"/>
          <p:cNvSpPr/>
          <p:nvPr/>
        </p:nvSpPr>
        <p:spPr>
          <a:xfrm>
            <a:off x="640080" y="1508760"/>
            <a:ext cx="3749040" cy="3108960"/>
          </a:xfrm>
          <a:prstGeom prst="rect">
            <a:avLst/>
          </a:prstGeom>
          <a:noFill/>
        </p:spPr>
        <p:txBody>
          <a:bodyPr wrap="square" rtlCol="0" anchor="t"/>
          <a:lstStyle/>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渔业转型：传统捕捞到海洋牧场的生计变迁</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民宿经济：从20余家激增至近70家的增长机制</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产业链分析："渔业-旅游-文创"三产融合现状</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"年鱼经济"：品牌建设与市场渠道调研</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乡村运营：申教授讲座后的运营模式深度访谈</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消费行为：游客消费偏好、满意度与复游意愿</a:t>
            </a:r>
            <a:endParaRPr lang="en-US" sz="1100" dirty="0"/>
          </a:p>
        </p:txBody>
      </p:sp>
      <p:sp>
        <p:nvSpPr>
          <p:cNvPr id="7" name="Shape 5"/>
          <p:cNvSpPr/>
          <p:nvPr/>
        </p:nvSpPr>
        <p:spPr>
          <a:xfrm>
            <a:off x="4846320" y="1005840"/>
            <a:ext cx="3840480" cy="1828800"/>
          </a:xfrm>
          <a:prstGeom prst="rect">
            <a:avLst/>
          </a:prstGeom>
          <a:solidFill>
            <a:srgbClr val="FFFFFF"/>
          </a:solidFill>
          <a:effectLst>
            <a:outerShdw blurRad="50800" dist="19050" dir="8100000" algn="bl" rotWithShape="0">
              <a:srgbClr val="000000">
                <a:alpha val="8000"/>
              </a:srgbClr>
            </a:outerShdw>
          </a:effectLst>
        </p:spPr>
      </p:sp>
      <p:sp>
        <p:nvSpPr>
          <p:cNvPr id="8" name="Text 6"/>
          <p:cNvSpPr/>
          <p:nvPr/>
        </p:nvSpPr>
        <p:spPr>
          <a:xfrm>
            <a:off x="5029200" y="1097280"/>
            <a:ext cx="3474720" cy="320040"/>
          </a:xfrm>
          <a:prstGeom prst="rect">
            <a:avLst/>
          </a:prstGeom>
          <a:noFill/>
        </p:spPr>
        <p:txBody>
          <a:bodyPr wrap="square" lIns="0" tIns="0" rIns="0" bIns="0" rtlCol="0" anchor="ctr"/>
          <a:lstStyle/>
          <a:p>
            <a:pPr marL="0" indent="0">
              <a:buNone/>
            </a:pPr>
            <a:r>
              <a:rPr lang="en-US" sz="14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调查方法</a:t>
            </a:r>
            <a:endParaRPr lang="en-US" sz="1400" dirty="0"/>
          </a:p>
        </p:txBody>
      </p:sp>
      <p:sp>
        <p:nvSpPr>
          <p:cNvPr id="9" name="Text 7"/>
          <p:cNvSpPr/>
          <p:nvPr/>
        </p:nvSpPr>
        <p:spPr>
          <a:xfrm>
            <a:off x="5029200" y="1508760"/>
            <a:ext cx="3474720" cy="1188720"/>
          </a:xfrm>
          <a:prstGeom prst="rect">
            <a:avLst/>
          </a:prstGeom>
          <a:noFill/>
        </p:spPr>
        <p:txBody>
          <a:bodyPr wrap="square" rtlCol="0" anchor="t"/>
          <a:lstStyle/>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半结构化访谈：渔民、民宿主、村干部、游客</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商户经营数据采集（营收、客源、淡旺季）</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游客满意度问卷（Likert五级量表）</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参与式观察：跟随渔民出海、民宿日常</a:t>
            </a:r>
            <a:endParaRPr lang="en-US" sz="1050" dirty="0"/>
          </a:p>
        </p:txBody>
      </p:sp>
      <p:sp>
        <p:nvSpPr>
          <p:cNvPr id="10" name="Shape 8"/>
          <p:cNvSpPr/>
          <p:nvPr/>
        </p:nvSpPr>
        <p:spPr>
          <a:xfrm>
            <a:off x="4846320" y="3017520"/>
            <a:ext cx="3840480" cy="1828800"/>
          </a:xfrm>
          <a:prstGeom prst="rect">
            <a:avLst/>
          </a:prstGeom>
          <a:solidFill>
            <a:srgbClr val="FFFFFF"/>
          </a:solidFill>
          <a:effectLst>
            <a:outerShdw blurRad="50800" dist="19050" dir="8100000" algn="bl" rotWithShape="0">
              <a:srgbClr val="000000">
                <a:alpha val="8000"/>
              </a:srgbClr>
            </a:outerShdw>
          </a:effectLst>
        </p:spPr>
      </p:sp>
      <p:sp>
        <p:nvSpPr>
          <p:cNvPr id="11" name="Text 9"/>
          <p:cNvSpPr/>
          <p:nvPr/>
        </p:nvSpPr>
        <p:spPr>
          <a:xfrm>
            <a:off x="5029200" y="3108960"/>
            <a:ext cx="3474720" cy="320040"/>
          </a:xfrm>
          <a:prstGeom prst="rect">
            <a:avLst/>
          </a:prstGeom>
          <a:noFill/>
        </p:spPr>
        <p:txBody>
          <a:bodyPr wrap="square" lIns="0" tIns="0" rIns="0" bIns="0" rtlCol="0" anchor="ctr"/>
          <a:lstStyle/>
          <a:p>
            <a:pPr marL="0" indent="0">
              <a:buNone/>
            </a:pPr>
            <a:r>
              <a:rPr lang="en-US" sz="14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负责人与产出</a:t>
            </a:r>
            <a:endParaRPr lang="en-US" sz="1400" dirty="0"/>
          </a:p>
        </p:txBody>
      </p:sp>
      <p:sp>
        <p:nvSpPr>
          <p:cNvPr id="12" name="Text 10"/>
          <p:cNvSpPr/>
          <p:nvPr/>
        </p:nvSpPr>
        <p:spPr>
          <a:xfrm>
            <a:off x="5029200" y="3520440"/>
            <a:ext cx="3474720" cy="1188720"/>
          </a:xfrm>
          <a:prstGeom prst="rect">
            <a:avLst/>
          </a:prstGeom>
          <a:noFill/>
        </p:spPr>
        <p:txBody>
          <a:bodyPr wrap="square" rtlCol="0" anchor="t"/>
          <a:lstStyle/>
          <a:p>
            <a:pPr marL="0" indent="0">
              <a:lnSpc>
                <a:spcPct val="150000"/>
              </a:lnSpc>
              <a:spcAft>
                <a:spcPts val="200"/>
              </a:spcAft>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负责：C（产业调研） + D（经济访谈）</a:t>
            </a:r>
            <a:endParaRPr lang="en-US" sz="1050" dirty="0"/>
          </a:p>
          <a:p>
            <a:pPr indent="0">
              <a:lnSpc>
                <a:spcPct val="150000"/>
              </a:lnSpc>
              <a:spcAft>
                <a:spcPts val="200"/>
              </a:spcAft>
              <a:buSzPct val="100000"/>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产业生态图谱与转型路径分析</a:t>
            </a:r>
            <a:b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b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民宿经济产业链分析报告</a:t>
            </a:r>
            <a:endParaRPr lang="en-US" sz="1050" dirty="0"/>
          </a:p>
          <a:p>
            <a:pPr indent="0">
              <a:lnSpc>
                <a:spcPct val="150000"/>
              </a:lnSpc>
              <a:spcAft>
                <a:spcPts val="200"/>
              </a:spcAft>
              <a:buSzPct val="100000"/>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游客消费行为统计报告</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08  模块三：数据治理研究</a:t>
            </a:r>
            <a:endParaRPr lang="en-US" sz="2000" dirty="0"/>
          </a:p>
        </p:txBody>
      </p:sp>
      <p:sp>
        <p:nvSpPr>
          <p:cNvPr id="4" name="Shape 2"/>
          <p:cNvSpPr/>
          <p:nvPr/>
        </p:nvSpPr>
        <p:spPr>
          <a:xfrm>
            <a:off x="457200" y="1005840"/>
            <a:ext cx="4114800" cy="3840480"/>
          </a:xfrm>
          <a:prstGeom prst="rect">
            <a:avLst/>
          </a:prstGeom>
          <a:solidFill>
            <a:srgbClr val="FFFFFF"/>
          </a:solidFill>
          <a:effectLst>
            <a:outerShdw blurRad="50800" dist="19050" dir="8100000" algn="bl" rotWithShape="0">
              <a:srgbClr val="000000">
                <a:alpha val="8000"/>
              </a:srgbClr>
            </a:outerShdw>
          </a:effectLst>
        </p:spPr>
      </p:sp>
      <p:sp>
        <p:nvSpPr>
          <p:cNvPr id="5" name="Text 3"/>
          <p:cNvSpPr/>
          <p:nvPr/>
        </p:nvSpPr>
        <p:spPr>
          <a:xfrm>
            <a:off x="640080" y="1097280"/>
            <a:ext cx="3749040" cy="320040"/>
          </a:xfrm>
          <a:prstGeom prst="rect">
            <a:avLst/>
          </a:prstGeom>
          <a:noFill/>
        </p:spPr>
        <p:txBody>
          <a:bodyPr wrap="square" lIns="0" tIns="0" rIns="0" bIns="0" rtlCol="0" anchor="ctr"/>
          <a:lstStyle/>
          <a:p>
            <a:pPr marL="0" indent="0">
              <a:buNone/>
            </a:pPr>
            <a:r>
              <a:rPr lang="en-US" sz="14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调研内容</a:t>
            </a:r>
            <a:endParaRPr lang="en-US" sz="1400" dirty="0"/>
          </a:p>
        </p:txBody>
      </p:sp>
      <p:sp>
        <p:nvSpPr>
          <p:cNvPr id="6" name="Text 4"/>
          <p:cNvSpPr/>
          <p:nvPr/>
        </p:nvSpPr>
        <p:spPr>
          <a:xfrm>
            <a:off x="640080" y="1508760"/>
            <a:ext cx="3749040" cy="3108960"/>
          </a:xfrm>
          <a:prstGeom prst="rect">
            <a:avLst/>
          </a:prstGeom>
          <a:noFill/>
        </p:spPr>
        <p:txBody>
          <a:bodyPr wrap="square" rtlCol="0" anchor="t"/>
          <a:lstStyle/>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多源数据采集：POI、社交媒体、评论数据</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空间数据库构建：景点、餐饮、住宿、交通GIS图层</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舆情与口碑分析：携程/小红书评价文本挖掘</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问卷数字化：在线问卷系统搭建与数据回收</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数字治理框架：海岛型乡村数据治理模型设计</a:t>
            </a:r>
            <a:endParaRPr lang="en-US" sz="1100" dirty="0"/>
          </a:p>
          <a:p>
            <a:pPr marL="342900" indent="-342900">
              <a:lnSpc>
                <a:spcPct val="160000"/>
              </a:lnSpc>
              <a:spcAft>
                <a:spcPts val="600"/>
              </a:spcAft>
              <a:buSzPct val="100000"/>
              <a:buChar char="•"/>
            </a:pPr>
            <a:r>
              <a:rPr lang="en-US" sz="110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数据可视化：海岛数字画像仪表盘</a:t>
            </a:r>
            <a:endParaRPr lang="en-US" sz="1100" dirty="0"/>
          </a:p>
        </p:txBody>
      </p:sp>
      <p:sp>
        <p:nvSpPr>
          <p:cNvPr id="7" name="Shape 5"/>
          <p:cNvSpPr/>
          <p:nvPr/>
        </p:nvSpPr>
        <p:spPr>
          <a:xfrm>
            <a:off x="4846320" y="1005840"/>
            <a:ext cx="3840480" cy="1828800"/>
          </a:xfrm>
          <a:prstGeom prst="rect">
            <a:avLst/>
          </a:prstGeom>
          <a:solidFill>
            <a:srgbClr val="FFFFFF"/>
          </a:solidFill>
          <a:effectLst>
            <a:outerShdw blurRad="50800" dist="19050" dir="8100000" algn="bl" rotWithShape="0">
              <a:srgbClr val="000000">
                <a:alpha val="8000"/>
              </a:srgbClr>
            </a:outerShdw>
          </a:effectLst>
        </p:spPr>
      </p:sp>
      <p:sp>
        <p:nvSpPr>
          <p:cNvPr id="8" name="Text 6"/>
          <p:cNvSpPr/>
          <p:nvPr/>
        </p:nvSpPr>
        <p:spPr>
          <a:xfrm>
            <a:off x="5029200" y="1097280"/>
            <a:ext cx="3474720" cy="320040"/>
          </a:xfrm>
          <a:prstGeom prst="rect">
            <a:avLst/>
          </a:prstGeom>
          <a:noFill/>
        </p:spPr>
        <p:txBody>
          <a:bodyPr wrap="square" lIns="0" tIns="0" rIns="0" bIns="0" rtlCol="0" anchor="ctr"/>
          <a:lstStyle/>
          <a:p>
            <a:pPr marL="0" indent="0">
              <a:buNone/>
            </a:pPr>
            <a:r>
              <a:rPr lang="en-US" sz="14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调查方法</a:t>
            </a:r>
            <a:endParaRPr lang="en-US" sz="1400" dirty="0"/>
          </a:p>
        </p:txBody>
      </p:sp>
      <p:sp>
        <p:nvSpPr>
          <p:cNvPr id="9" name="Text 7"/>
          <p:cNvSpPr/>
          <p:nvPr/>
        </p:nvSpPr>
        <p:spPr>
          <a:xfrm>
            <a:off x="5029200" y="1508760"/>
            <a:ext cx="3474720" cy="1188720"/>
          </a:xfrm>
          <a:prstGeom prst="rect">
            <a:avLst/>
          </a:prstGeom>
          <a:noFill/>
        </p:spPr>
        <p:txBody>
          <a:bodyPr wrap="square" rtlCol="0" anchor="t"/>
          <a:lstStyle/>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高德API POI采集（47个POI已预采集）</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Python爬虫 + NLP情感分析（小红书/携程）</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QGIS空间分析 + Python geopandas</a:t>
            </a:r>
            <a:endParaRPr lang="en-US" sz="1050" dirty="0"/>
          </a:p>
          <a:p>
            <a:pPr marL="342900" indent="-342900">
              <a:lnSpc>
                <a:spcPct val="160000"/>
              </a:lnSpc>
              <a:spcAft>
                <a:spcPts val="4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问卷星/腾讯问卷在线平台</a:t>
            </a:r>
            <a:endParaRPr lang="en-US" sz="1050" dirty="0"/>
          </a:p>
        </p:txBody>
      </p:sp>
      <p:sp>
        <p:nvSpPr>
          <p:cNvPr id="10" name="Shape 8"/>
          <p:cNvSpPr/>
          <p:nvPr/>
        </p:nvSpPr>
        <p:spPr>
          <a:xfrm>
            <a:off x="4846320" y="3017520"/>
            <a:ext cx="3840480" cy="1828800"/>
          </a:xfrm>
          <a:prstGeom prst="rect">
            <a:avLst/>
          </a:prstGeom>
          <a:solidFill>
            <a:srgbClr val="FFFFFF"/>
          </a:solidFill>
          <a:effectLst>
            <a:outerShdw blurRad="50800" dist="19050" dir="8100000" algn="bl" rotWithShape="0">
              <a:srgbClr val="000000">
                <a:alpha val="8000"/>
              </a:srgbClr>
            </a:outerShdw>
          </a:effectLst>
        </p:spPr>
      </p:sp>
      <p:sp>
        <p:nvSpPr>
          <p:cNvPr id="11" name="Text 9"/>
          <p:cNvSpPr/>
          <p:nvPr/>
        </p:nvSpPr>
        <p:spPr>
          <a:xfrm>
            <a:off x="5029200" y="3108960"/>
            <a:ext cx="3474720" cy="320040"/>
          </a:xfrm>
          <a:prstGeom prst="rect">
            <a:avLst/>
          </a:prstGeom>
          <a:noFill/>
        </p:spPr>
        <p:txBody>
          <a:bodyPr wrap="square" lIns="0" tIns="0" rIns="0" bIns="0" rtlCol="0" anchor="ctr"/>
          <a:lstStyle/>
          <a:p>
            <a:pPr marL="0" indent="0">
              <a:buNone/>
            </a:pPr>
            <a:r>
              <a:rPr lang="en-US" sz="14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负责人与产出</a:t>
            </a:r>
            <a:endParaRPr lang="en-US" sz="1400" dirty="0"/>
          </a:p>
        </p:txBody>
      </p:sp>
      <p:sp>
        <p:nvSpPr>
          <p:cNvPr id="12" name="Text 10"/>
          <p:cNvSpPr/>
          <p:nvPr/>
        </p:nvSpPr>
        <p:spPr>
          <a:xfrm>
            <a:off x="5029200" y="3520440"/>
            <a:ext cx="3474720" cy="1188720"/>
          </a:xfrm>
          <a:prstGeom prst="rect">
            <a:avLst/>
          </a:prstGeom>
          <a:noFill/>
        </p:spPr>
        <p:txBody>
          <a:bodyPr wrap="square" rtlCol="0" anchor="t"/>
          <a:lstStyle/>
          <a:p>
            <a:pPr marL="0" indent="0">
              <a:lnSpc>
                <a:spcPct val="150000"/>
              </a:lnSpc>
              <a:spcAft>
                <a:spcPts val="200"/>
              </a:spcAft>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负责：E（数据技术） + F（影像记录）</a:t>
            </a:r>
            <a:endParaRPr lang="en-US" sz="1050" dirty="0"/>
          </a:p>
          <a:p>
            <a:pPr marL="0" indent="0">
              <a:lnSpc>
                <a:spcPct val="150000"/>
              </a:lnSpc>
              <a:spcAft>
                <a:spcPts val="200"/>
              </a:spcAft>
              <a:buNone/>
            </a:pPr>
            <a:endParaRPr lang="en-US" sz="1050" dirty="0"/>
          </a:p>
          <a:p>
            <a:pPr marL="0" indent="0">
              <a:lnSpc>
                <a:spcPct val="150000"/>
              </a:lnSpc>
              <a:spcAft>
                <a:spcPts val="200"/>
              </a:spcAft>
              <a:buNone/>
            </a:pPr>
            <a:r>
              <a:rPr lang="en-US" sz="105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预期产出：</a:t>
            </a:r>
            <a:endParaRPr lang="en-US" sz="1050" dirty="0"/>
          </a:p>
          <a:p>
            <a:pPr marL="342900" indent="-342900">
              <a:lnSpc>
                <a:spcPct val="150000"/>
              </a:lnSpc>
              <a:spcAft>
                <a:spcPts val="2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桂山岛空间数据库（GIS图层）</a:t>
            </a:r>
            <a:endParaRPr lang="en-US" sz="1050" dirty="0"/>
          </a:p>
          <a:p>
            <a:pPr marL="342900" indent="-342900">
              <a:lnSpc>
                <a:spcPct val="150000"/>
              </a:lnSpc>
              <a:spcAft>
                <a:spcPts val="2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网络舆情分析报告</a:t>
            </a:r>
            <a:endParaRPr lang="en-US" sz="1050" dirty="0"/>
          </a:p>
          <a:p>
            <a:pPr marL="342900" indent="-342900">
              <a:lnSpc>
                <a:spcPct val="150000"/>
              </a:lnSpc>
              <a:spcAft>
                <a:spcPts val="200"/>
              </a:spcAft>
              <a:buSzPct val="100000"/>
              <a:buChar char="•"/>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数字治理框架方案</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p:spPr>
        <p:style>
          <a:lnRef idx="0">
            <a:srgbClr val="FFFFFF"/>
          </a:lnRef>
          <a:fillRef idx="1">
            <a:schemeClr val="accent1"/>
          </a:fillRef>
          <a:effectRef idx="1">
            <a:schemeClr val="accent1"/>
          </a:effectRef>
          <a:fontRef idx="minor">
            <a:schemeClr val="lt1"/>
          </a:fontRef>
        </p:style>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09  踏勘时间安排</a:t>
            </a:r>
            <a:endParaRPr lang="en-US" sz="2000" dirty="0"/>
          </a:p>
        </p:txBody>
      </p:sp>
      <p:graphicFrame>
        <p:nvGraphicFramePr>
          <p:cNvPr id="11" name="Table 0"/>
          <p:cNvGraphicFramePr>
            <a:graphicFrameLocks noGrp="1"/>
          </p:cNvGraphicFramePr>
          <p:nvPr/>
        </p:nvGraphicFramePr>
        <p:xfrm>
          <a:off x="274320" y="914400"/>
          <a:ext cx="8595360" cy="3840480"/>
        </p:xfrm>
        <a:graphic>
          <a:graphicData uri="http://schemas.openxmlformats.org/drawingml/2006/table">
            <a:tbl>
              <a:tblPr/>
              <a:tblGrid>
                <a:gridCol w="1097280"/>
                <a:gridCol w="731520"/>
                <a:gridCol w="5303520"/>
                <a:gridCol w="731520"/>
              </a:tblGrid>
              <a:tr h="320040">
                <a:tc>
                  <a:txBody>
                    <a:bodyPr/>
                    <a:lstStyle/>
                    <a:p>
                      <a:pPr marL="0" indent="0" algn="ctr">
                        <a:buNone/>
                      </a:pPr>
                      <a:r>
                        <a:rPr lang="en-US" sz="11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日期</a:t>
                      </a:r>
                      <a:endParaRPr lang="en-US" sz="11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accent1"/>
                    </a:solidFill>
                  </a:tcPr>
                </a:tc>
                <a:tc>
                  <a:txBody>
                    <a:bodyPr/>
                    <a:lstStyle/>
                    <a:p>
                      <a:pPr marL="0" indent="0" algn="ctr">
                        <a:buNone/>
                      </a:pPr>
                      <a:r>
                        <a:rPr lang="en-US" sz="11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时段</a:t>
                      </a:r>
                      <a:endParaRPr lang="en-US" sz="11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accent1"/>
                    </a:solidFill>
                  </a:tcPr>
                </a:tc>
                <a:tc>
                  <a:txBody>
                    <a:bodyPr/>
                    <a:lstStyle/>
                    <a:p>
                      <a:pPr marL="0" indent="0" algn="ctr">
                        <a:buNone/>
                      </a:pPr>
                      <a:r>
                        <a:rPr lang="en-US" sz="11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活动内容</a:t>
                      </a:r>
                      <a:endParaRPr lang="en-US" sz="11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accent1"/>
                    </a:solidFill>
                  </a:tcPr>
                </a:tc>
                <a:tc>
                  <a:txBody>
                    <a:bodyPr/>
                    <a:lstStyle/>
                    <a:p>
                      <a:pPr marL="0" indent="0" algn="ctr">
                        <a:buNone/>
                      </a:pPr>
                      <a:r>
                        <a:rPr lang="en-US" sz="11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负责</a:t>
                      </a:r>
                      <a:endParaRPr lang="en-US" sz="11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accent1"/>
                    </a:solidFill>
                  </a:tcPr>
                </a:tc>
              </a:tr>
              <a:tr h="320040">
                <a:tc rowSpan="3">
                  <a:txBody>
                    <a:bodyPr/>
                    <a:lstStyle/>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7/13-14</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(准备期)</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全天</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文献检索、案例研究（舟山/平潭/日本离岛）</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全员</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r>
              <a:tr h="320040">
                <a:tc vMerge="1">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全天</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确定调研主题、设计问卷与访谈提纲</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A/C/D</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r>
              <a:tr h="320040">
                <a:tc vMerge="1">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全天</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高德API预采集、准备调研工具与设备</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E/F</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4FD"/>
                    </a:solidFill>
                  </a:tcPr>
                </a:tc>
              </a:tr>
              <a:tr h="320040">
                <a:tc rowSpan="3">
                  <a:txBody>
                    <a:bodyPr/>
                    <a:lstStyle/>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7/15</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(Day 1)</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上午</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地铁至蛇口邮轮母港，乘船前往桂山岛（~60min）</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全员</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r>
              <a:tr h="320040">
                <a:tc vMerge="1">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下午</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全岛初次踏勘，整体感知；分组启动调研</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分组</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r>
              <a:tr h="320040">
                <a:tc vMerge="1">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晚间</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各组汇总Day 1初步发现，讨论调整方案</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A主持</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tr>
              <a:tr h="320040">
                <a:tc rowSpan="3">
                  <a:txBody>
                    <a:bodyPr/>
                    <a:lstStyle/>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7/16</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(Day 2)</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上午</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c>
                  <a:txBody>
                    <a:bodyPr/>
                    <a:lstStyle/>
                    <a:p>
                      <a:pPr marL="0" indent="0">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南京大学申明锐副教授讲座：乡村运营理论与实践</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全员</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r>
              <a:tr h="320040">
                <a:tc vMerge="1">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下午</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深入调研：空间组补充测绘，产业组深度访谈，数据组采集</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分组</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r>
              <a:tr h="320040">
                <a:tc vMerge="1">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晚间</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数据整理、访谈录音转写、初步数据分析</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E/F</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8"/>
                    </a:solidFill>
                  </a:tcPr>
                </a:tc>
              </a:tr>
              <a:tr h="320040">
                <a:tc rowSpan="2">
                  <a:txBody>
                    <a:bodyPr/>
                    <a:lstStyle/>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7/17</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buNone/>
                      </a:pPr>
                      <a:r>
                        <a:rPr 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(Day 3)</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上午</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补充调研、关键受访者回访、小组讨论与初步发现总结</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全员</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r>
              <a:tr h="320040">
                <a:tc vMerge="1">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下午</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乘船返回深圳蛇口</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1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全员</a:t>
                      </a:r>
                      <a:endParaRPr 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0800" marR="508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r>
            </a:tbl>
          </a:graphicData>
        </a:graphic>
      </p:graphicFrame>
      <p:sp>
        <p:nvSpPr>
          <p:cNvPr id="5" name="Text 2"/>
          <p:cNvSpPr/>
          <p:nvPr/>
        </p:nvSpPr>
        <p:spPr>
          <a:xfrm>
            <a:off x="457200" y="4663440"/>
            <a:ext cx="8229600" cy="365760"/>
          </a:xfrm>
          <a:prstGeom prst="rect">
            <a:avLst/>
          </a:prstGeom>
          <a:noFill/>
        </p:spPr>
        <p:txBody>
          <a:bodyPr wrap="square" lIns="0" tIns="0" rIns="0" bIns="0" rtlCol="0" anchor="ctr"/>
          <a:lstStyle/>
          <a:p>
            <a:pPr marL="0" indent="0">
              <a:buNone/>
            </a:pPr>
            <a:r>
              <a:rPr lang="en-US" sz="1000" i="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注：7月16日上午南京大学申明锐副教授（乡村运营方向）将进行专题讲座，需提前准备互动问题。</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chemeClr val="accent1"/>
          </a:solidFill>
        </p:spPr>
      </p:sp>
      <p:sp>
        <p:nvSpPr>
          <p:cNvPr id="3" name="Text 1"/>
          <p:cNvSpPr/>
          <p:nvPr/>
        </p:nvSpPr>
        <p:spPr>
          <a:xfrm>
            <a:off x="457200" y="91440"/>
            <a:ext cx="8229600" cy="54864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10  预期成果与输出</a:t>
            </a:r>
            <a:endParaRPr lang="en-US" sz="2000" dirty="0"/>
          </a:p>
        </p:txBody>
      </p:sp>
      <p:sp>
        <p:nvSpPr>
          <p:cNvPr id="4" name="Shape 2"/>
          <p:cNvSpPr/>
          <p:nvPr>
            <p:custDataLst>
              <p:tags r:id="rId1"/>
            </p:custDataLst>
          </p:nvPr>
        </p:nvSpPr>
        <p:spPr>
          <a:xfrm>
            <a:off x="457200" y="100584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5" name="Shape 3"/>
          <p:cNvSpPr/>
          <p:nvPr>
            <p:custDataLst>
              <p:tags r:id="rId2"/>
            </p:custDataLst>
          </p:nvPr>
        </p:nvSpPr>
        <p:spPr>
          <a:xfrm>
            <a:off x="457200" y="1005840"/>
            <a:ext cx="2560320" cy="54864"/>
          </a:xfrm>
          <a:prstGeom prst="rect">
            <a:avLst/>
          </a:prstGeom>
          <a:solidFill>
            <a:srgbClr val="2E5E8E"/>
          </a:solidFill>
        </p:spPr>
      </p:sp>
      <p:sp>
        <p:nvSpPr>
          <p:cNvPr id="6" name="Text 4"/>
          <p:cNvSpPr/>
          <p:nvPr>
            <p:custDataLst>
              <p:tags r:id="rId3"/>
            </p:custDataLst>
          </p:nvPr>
        </p:nvSpPr>
        <p:spPr>
          <a:xfrm>
            <a:off x="594360" y="1188720"/>
            <a:ext cx="2286000" cy="320040"/>
          </a:xfrm>
          <a:prstGeom prst="rect">
            <a:avLst/>
          </a:prstGeom>
          <a:noFill/>
        </p:spPr>
        <p:txBody>
          <a:bodyPr wrap="square" lIns="0" tIns="0" rIns="0" bIns="0" rtlCol="0" anchor="ctr"/>
          <a:lstStyle/>
          <a:p>
            <a:pPr marL="0" indent="0">
              <a:buNone/>
            </a:pPr>
            <a:r>
              <a:rPr lang="en-US" sz="13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综合调研报告</a:t>
            </a:r>
            <a:endParaRPr lang="en-US" sz="1300" dirty="0"/>
          </a:p>
        </p:txBody>
      </p:sp>
      <p:sp>
        <p:nvSpPr>
          <p:cNvPr id="7" name="Text 5"/>
          <p:cNvSpPr/>
          <p:nvPr>
            <p:custDataLst>
              <p:tags r:id="rId4"/>
            </p:custDataLst>
          </p:nvPr>
        </p:nvSpPr>
        <p:spPr>
          <a:xfrm>
            <a:off x="594360" y="1600200"/>
            <a:ext cx="2286000" cy="100584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涵盖空间句法分析、产业经济评估、数据治理方案三大板块的完整调研报告（1.5万字+）</a:t>
            </a:r>
            <a:endParaRPr lang="en-US" sz="1050" dirty="0"/>
          </a:p>
        </p:txBody>
      </p:sp>
      <p:sp>
        <p:nvSpPr>
          <p:cNvPr id="8" name="Shape 6"/>
          <p:cNvSpPr/>
          <p:nvPr>
            <p:custDataLst>
              <p:tags r:id="rId5"/>
            </p:custDataLst>
          </p:nvPr>
        </p:nvSpPr>
        <p:spPr>
          <a:xfrm>
            <a:off x="3291840" y="100584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9" name="Shape 7"/>
          <p:cNvSpPr/>
          <p:nvPr>
            <p:custDataLst>
              <p:tags r:id="rId6"/>
            </p:custDataLst>
          </p:nvPr>
        </p:nvSpPr>
        <p:spPr>
          <a:xfrm>
            <a:off x="3291840" y="1005840"/>
            <a:ext cx="2560320" cy="54864"/>
          </a:xfrm>
          <a:prstGeom prst="rect">
            <a:avLst/>
          </a:prstGeom>
          <a:solidFill>
            <a:srgbClr val="0D9488"/>
          </a:solidFill>
        </p:spPr>
      </p:sp>
      <p:sp>
        <p:nvSpPr>
          <p:cNvPr id="10" name="Text 8"/>
          <p:cNvSpPr/>
          <p:nvPr>
            <p:custDataLst>
              <p:tags r:id="rId7"/>
            </p:custDataLst>
          </p:nvPr>
        </p:nvSpPr>
        <p:spPr>
          <a:xfrm>
            <a:off x="3429000" y="1188720"/>
            <a:ext cx="2286000" cy="320040"/>
          </a:xfrm>
          <a:prstGeom prst="rect">
            <a:avLst/>
          </a:prstGeom>
          <a:noFill/>
        </p:spPr>
        <p:txBody>
          <a:bodyPr wrap="square" lIns="0" tIns="0" rIns="0" bIns="0" rtlCol="0" anchor="ctr"/>
          <a:lstStyle/>
          <a:p>
            <a:pPr marL="0" indent="0">
              <a:buNone/>
            </a:pPr>
            <a:r>
              <a:rPr lang="en-US" sz="13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空间数据</a:t>
            </a:r>
            <a:endParaRPr lang="en-US" sz="1300" dirty="0"/>
          </a:p>
        </p:txBody>
      </p:sp>
      <p:sp>
        <p:nvSpPr>
          <p:cNvPr id="11" name="Text 9"/>
          <p:cNvSpPr/>
          <p:nvPr>
            <p:custDataLst>
              <p:tags r:id="rId8"/>
            </p:custDataLst>
          </p:nvPr>
        </p:nvSpPr>
        <p:spPr>
          <a:xfrm>
            <a:off x="3429000" y="1600200"/>
            <a:ext cx="2286000" cy="100584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桂山岛POI数据、GIS图层、空间句法模型文件</a:t>
            </a:r>
            <a:endParaRPr lang="en-US" sz="1050" dirty="0"/>
          </a:p>
        </p:txBody>
      </p:sp>
      <p:sp>
        <p:nvSpPr>
          <p:cNvPr id="12" name="Shape 10"/>
          <p:cNvSpPr/>
          <p:nvPr>
            <p:custDataLst>
              <p:tags r:id="rId9"/>
            </p:custDataLst>
          </p:nvPr>
        </p:nvSpPr>
        <p:spPr>
          <a:xfrm>
            <a:off x="6126480" y="100584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13" name="Shape 11"/>
          <p:cNvSpPr/>
          <p:nvPr>
            <p:custDataLst>
              <p:tags r:id="rId10"/>
            </p:custDataLst>
          </p:nvPr>
        </p:nvSpPr>
        <p:spPr>
          <a:xfrm>
            <a:off x="6126480" y="1005840"/>
            <a:ext cx="2560320" cy="54864"/>
          </a:xfrm>
          <a:prstGeom prst="rect">
            <a:avLst/>
          </a:prstGeom>
          <a:solidFill>
            <a:srgbClr val="E8913A"/>
          </a:solidFill>
        </p:spPr>
      </p:sp>
      <p:sp>
        <p:nvSpPr>
          <p:cNvPr id="14" name="Text 12"/>
          <p:cNvSpPr/>
          <p:nvPr>
            <p:custDataLst>
              <p:tags r:id="rId11"/>
            </p:custDataLst>
          </p:nvPr>
        </p:nvSpPr>
        <p:spPr>
          <a:xfrm>
            <a:off x="6263640" y="1188720"/>
            <a:ext cx="2286000" cy="320040"/>
          </a:xfrm>
          <a:prstGeom prst="rect">
            <a:avLst/>
          </a:prstGeom>
          <a:noFill/>
        </p:spPr>
        <p:txBody>
          <a:bodyPr wrap="square" lIns="0" tIns="0" rIns="0" bIns="0" rtlCol="0" anchor="ctr"/>
          <a:lstStyle/>
          <a:p>
            <a:pPr marL="0" indent="0">
              <a:buNone/>
            </a:pPr>
            <a:r>
              <a:rPr lang="en-US" sz="13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访谈与问卷数据集</a:t>
            </a:r>
            <a:endParaRPr lang="en-US" sz="1300" dirty="0"/>
          </a:p>
        </p:txBody>
      </p:sp>
      <p:sp>
        <p:nvSpPr>
          <p:cNvPr id="15" name="Text 13"/>
          <p:cNvSpPr/>
          <p:nvPr>
            <p:custDataLst>
              <p:tags r:id="rId12"/>
            </p:custDataLst>
          </p:nvPr>
        </p:nvSpPr>
        <p:spPr>
          <a:xfrm>
            <a:off x="6263640" y="1600200"/>
            <a:ext cx="2286000" cy="100584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居民/游客访谈记录（20人份）、结构化问卷数据（</a:t>
            </a:r>
            <a:r>
              <a:rPr lang="zh-CN" alt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待定</a:t>
            </a: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050" dirty="0"/>
          </a:p>
        </p:txBody>
      </p:sp>
      <p:sp>
        <p:nvSpPr>
          <p:cNvPr id="16" name="Shape 14"/>
          <p:cNvSpPr/>
          <p:nvPr>
            <p:custDataLst>
              <p:tags r:id="rId13"/>
            </p:custDataLst>
          </p:nvPr>
        </p:nvSpPr>
        <p:spPr>
          <a:xfrm>
            <a:off x="457200" y="301752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17" name="Shape 15"/>
          <p:cNvSpPr/>
          <p:nvPr>
            <p:custDataLst>
              <p:tags r:id="rId14"/>
            </p:custDataLst>
          </p:nvPr>
        </p:nvSpPr>
        <p:spPr>
          <a:xfrm>
            <a:off x="457200" y="3017520"/>
            <a:ext cx="2560320" cy="54864"/>
          </a:xfrm>
          <a:prstGeom prst="rect">
            <a:avLst/>
          </a:prstGeom>
          <a:solidFill>
            <a:srgbClr val="2E5E8E"/>
          </a:solidFill>
        </p:spPr>
      </p:sp>
      <p:sp>
        <p:nvSpPr>
          <p:cNvPr id="18" name="Text 16"/>
          <p:cNvSpPr/>
          <p:nvPr>
            <p:custDataLst>
              <p:tags r:id="rId15"/>
            </p:custDataLst>
          </p:nvPr>
        </p:nvSpPr>
        <p:spPr>
          <a:xfrm>
            <a:off x="594360" y="3200400"/>
            <a:ext cx="2286000" cy="320040"/>
          </a:xfrm>
          <a:prstGeom prst="rect">
            <a:avLst/>
          </a:prstGeom>
          <a:noFill/>
        </p:spPr>
        <p:txBody>
          <a:bodyPr wrap="square" lIns="0" tIns="0" rIns="0" bIns="0" rtlCol="0" anchor="ctr"/>
          <a:lstStyle/>
          <a:p>
            <a:pPr marL="0" indent="0">
              <a:buNone/>
            </a:pPr>
            <a:r>
              <a:rPr lang="en-US" sz="1300" b="1" dirty="0">
                <a:solidFill>
                  <a:srgbClr val="2E5E8E"/>
                </a:solidFill>
                <a:latin typeface="微软雅黑" panose="020B0503020204020204" pitchFamily="34" charset="-122"/>
                <a:ea typeface="微软雅黑" panose="020B0503020204020204" pitchFamily="34" charset="-122"/>
                <a:cs typeface="微软雅黑" panose="020B0503020204020204" pitchFamily="34" charset="-120"/>
              </a:rPr>
              <a:t>影像资料库</a:t>
            </a:r>
            <a:endParaRPr lang="en-US" sz="1300" dirty="0"/>
          </a:p>
        </p:txBody>
      </p:sp>
      <p:sp>
        <p:nvSpPr>
          <p:cNvPr id="19" name="Text 17"/>
          <p:cNvSpPr/>
          <p:nvPr>
            <p:custDataLst>
              <p:tags r:id="rId16"/>
            </p:custDataLst>
          </p:nvPr>
        </p:nvSpPr>
        <p:spPr>
          <a:xfrm>
            <a:off x="594360" y="3611880"/>
            <a:ext cx="2286000" cy="100584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全景照片、街景记录、航拍素材、田野影像日志</a:t>
            </a:r>
            <a:endParaRPr lang="en-US" sz="1050" dirty="0"/>
          </a:p>
        </p:txBody>
      </p:sp>
      <p:sp>
        <p:nvSpPr>
          <p:cNvPr id="20" name="Shape 18"/>
          <p:cNvSpPr/>
          <p:nvPr>
            <p:custDataLst>
              <p:tags r:id="rId17"/>
            </p:custDataLst>
          </p:nvPr>
        </p:nvSpPr>
        <p:spPr>
          <a:xfrm>
            <a:off x="3291840" y="301752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21" name="Shape 19"/>
          <p:cNvSpPr/>
          <p:nvPr>
            <p:custDataLst>
              <p:tags r:id="rId18"/>
            </p:custDataLst>
          </p:nvPr>
        </p:nvSpPr>
        <p:spPr>
          <a:xfrm>
            <a:off x="3291840" y="3017520"/>
            <a:ext cx="2560320" cy="54864"/>
          </a:xfrm>
          <a:prstGeom prst="rect">
            <a:avLst/>
          </a:prstGeom>
          <a:solidFill>
            <a:srgbClr val="0D9488"/>
          </a:solidFill>
        </p:spPr>
      </p:sp>
      <p:sp>
        <p:nvSpPr>
          <p:cNvPr id="22" name="Text 20"/>
          <p:cNvSpPr/>
          <p:nvPr>
            <p:custDataLst>
              <p:tags r:id="rId19"/>
            </p:custDataLst>
          </p:nvPr>
        </p:nvSpPr>
        <p:spPr>
          <a:xfrm>
            <a:off x="3429000" y="3200400"/>
            <a:ext cx="2286000" cy="320040"/>
          </a:xfrm>
          <a:prstGeom prst="rect">
            <a:avLst/>
          </a:prstGeom>
          <a:noFill/>
        </p:spPr>
        <p:txBody>
          <a:bodyPr wrap="square" lIns="0" tIns="0" rIns="0" bIns="0" rtlCol="0" anchor="ctr"/>
          <a:lstStyle/>
          <a:p>
            <a:pPr marL="0" indent="0">
              <a:buNone/>
            </a:pPr>
            <a:r>
              <a:rPr lang="en-US" sz="13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0"/>
              </a:rPr>
              <a:t>政策建议报告</a:t>
            </a:r>
            <a:endParaRPr lang="en-US" sz="1300" dirty="0"/>
          </a:p>
        </p:txBody>
      </p:sp>
      <p:sp>
        <p:nvSpPr>
          <p:cNvPr id="23" name="Text 21"/>
          <p:cNvSpPr/>
          <p:nvPr>
            <p:custDataLst>
              <p:tags r:id="rId20"/>
            </p:custDataLst>
          </p:nvPr>
        </p:nvSpPr>
        <p:spPr>
          <a:xfrm>
            <a:off x="3429000" y="3611880"/>
            <a:ext cx="2286000" cy="100584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面向桂山镇政府的海岛空间治理与可持续发展政策建议</a:t>
            </a:r>
            <a:endParaRPr lang="en-US" sz="1050" dirty="0"/>
          </a:p>
        </p:txBody>
      </p:sp>
      <p:sp>
        <p:nvSpPr>
          <p:cNvPr id="24" name="Shape 22"/>
          <p:cNvSpPr/>
          <p:nvPr>
            <p:custDataLst>
              <p:tags r:id="rId21"/>
            </p:custDataLst>
          </p:nvPr>
        </p:nvSpPr>
        <p:spPr>
          <a:xfrm>
            <a:off x="6126480" y="3017520"/>
            <a:ext cx="2560320" cy="1737360"/>
          </a:xfrm>
          <a:prstGeom prst="rect">
            <a:avLst/>
          </a:prstGeom>
          <a:solidFill>
            <a:srgbClr val="FFFFFF"/>
          </a:solidFill>
          <a:effectLst>
            <a:outerShdw blurRad="50800" dist="19050" dir="8100000" algn="bl" rotWithShape="0">
              <a:srgbClr val="000000">
                <a:alpha val="8000"/>
              </a:srgbClr>
            </a:outerShdw>
          </a:effectLst>
        </p:spPr>
      </p:sp>
      <p:sp>
        <p:nvSpPr>
          <p:cNvPr id="25" name="Shape 23"/>
          <p:cNvSpPr/>
          <p:nvPr>
            <p:custDataLst>
              <p:tags r:id="rId22"/>
            </p:custDataLst>
          </p:nvPr>
        </p:nvSpPr>
        <p:spPr>
          <a:xfrm>
            <a:off x="6126480" y="3017520"/>
            <a:ext cx="2560320" cy="54864"/>
          </a:xfrm>
          <a:prstGeom prst="rect">
            <a:avLst/>
          </a:prstGeom>
          <a:solidFill>
            <a:srgbClr val="E8913A"/>
          </a:solidFill>
        </p:spPr>
      </p:sp>
      <p:sp>
        <p:nvSpPr>
          <p:cNvPr id="26" name="Text 24"/>
          <p:cNvSpPr/>
          <p:nvPr>
            <p:custDataLst>
              <p:tags r:id="rId23"/>
            </p:custDataLst>
          </p:nvPr>
        </p:nvSpPr>
        <p:spPr>
          <a:xfrm>
            <a:off x="6263640" y="3200400"/>
            <a:ext cx="2286000" cy="320040"/>
          </a:xfrm>
          <a:prstGeom prst="rect">
            <a:avLst/>
          </a:prstGeom>
          <a:noFill/>
        </p:spPr>
        <p:txBody>
          <a:bodyPr wrap="square" lIns="0" tIns="0" rIns="0" bIns="0" rtlCol="0" anchor="ctr"/>
          <a:lstStyle/>
          <a:p>
            <a:pPr marL="0" indent="0">
              <a:buNone/>
            </a:pPr>
            <a:r>
              <a:rPr lang="en-US" sz="1300" b="1" dirty="0">
                <a:solidFill>
                  <a:srgbClr val="E8913A"/>
                </a:solidFill>
                <a:latin typeface="微软雅黑" panose="020B0503020204020204" pitchFamily="34" charset="-122"/>
                <a:ea typeface="微软雅黑" panose="020B0503020204020204" pitchFamily="34" charset="-122"/>
                <a:cs typeface="微软雅黑" panose="020B0503020204020204" pitchFamily="34" charset="-120"/>
              </a:rPr>
              <a:t>参考论文</a:t>
            </a:r>
            <a:endParaRPr lang="zh-CN" altLang="en-US" sz="1300" dirty="0"/>
          </a:p>
        </p:txBody>
      </p:sp>
      <p:sp>
        <p:nvSpPr>
          <p:cNvPr id="27" name="Text 25"/>
          <p:cNvSpPr/>
          <p:nvPr>
            <p:custDataLst>
              <p:tags r:id="rId24"/>
            </p:custDataLst>
          </p:nvPr>
        </p:nvSpPr>
        <p:spPr>
          <a:xfrm>
            <a:off x="6263640" y="3611880"/>
            <a:ext cx="2286000" cy="1005840"/>
          </a:xfrm>
          <a:prstGeom prst="rect">
            <a:avLst/>
          </a:prstGeom>
          <a:noFill/>
        </p:spPr>
        <p:txBody>
          <a:bodyPr wrap="square" lIns="0" tIns="0" rIns="0" bIns="0" rtlCol="0" anchor="t"/>
          <a:lstStyle/>
          <a:p>
            <a:pPr marL="0" indent="0">
              <a:lnSpc>
                <a:spcPct val="150000"/>
              </a:lnSpc>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0"/>
              </a:rPr>
              <a:t>基于调研数据的学术论文框架（空间句法/产业转型/数据治理方向）</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chemeClr val="accent1"/>
          </a:solidFill>
        </p:spPr>
      </p:sp>
      <p:sp>
        <p:nvSpPr>
          <p:cNvPr id="3" name="Text 1"/>
          <p:cNvSpPr/>
          <p:nvPr/>
        </p:nvSpPr>
        <p:spPr>
          <a:xfrm>
            <a:off x="731520" y="1371600"/>
            <a:ext cx="7680960" cy="914400"/>
          </a:xfrm>
          <a:prstGeom prst="rect">
            <a:avLst/>
          </a:prstGeom>
          <a:noFill/>
        </p:spPr>
        <p:txBody>
          <a:bodyPr wrap="square" rtlCol="0" anchor="ctr"/>
          <a:lstStyle/>
          <a:p>
            <a:pPr marL="0" indent="0" algn="ctr">
              <a:buNone/>
            </a:pPr>
            <a:r>
              <a:rPr lang="en-US" sz="3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讨论与交流</a:t>
            </a:r>
            <a:endParaRPr lang="en-US" sz="3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2"/>
          <p:cNvSpPr/>
          <p:nvPr/>
        </p:nvSpPr>
        <p:spPr>
          <a:xfrm>
            <a:off x="731520" y="2286000"/>
            <a:ext cx="7680960" cy="548640"/>
          </a:xfrm>
          <a:prstGeom prst="rect">
            <a:avLst/>
          </a:prstGeom>
          <a:noFill/>
        </p:spPr>
        <p:txBody>
          <a:bodyPr wrap="square" rtlCol="0" anchor="ctr"/>
          <a:lstStyle/>
          <a:p>
            <a:pPr marL="0" indent="0" algn="ctr">
              <a:buNone/>
            </a:pPr>
            <a:r>
              <a:rPr lang="en-US" sz="2000" kern="0" spc="400" dirty="0">
                <a:solidFill>
                  <a:srgbClr val="14B8A6"/>
                </a:solidFill>
                <a:latin typeface="Georgia" panose="02040502050405020303" pitchFamily="34" charset="0"/>
                <a:ea typeface="Georgia" panose="02040502050405020303" pitchFamily="34" charset="-122"/>
                <a:cs typeface="Georgia" panose="02040502050405020303" pitchFamily="34" charset="-120"/>
              </a:rPr>
              <a:t>Discussion &amp; Q&amp;A</a:t>
            </a:r>
            <a:endParaRPr lang="en-US" sz="2000" dirty="0"/>
          </a:p>
        </p:txBody>
      </p:sp>
      <p:sp>
        <p:nvSpPr>
          <p:cNvPr id="5" name="Shape 3"/>
          <p:cNvSpPr/>
          <p:nvPr/>
        </p:nvSpPr>
        <p:spPr>
          <a:xfrm>
            <a:off x="3200400" y="3017520"/>
            <a:ext cx="2743200" cy="0"/>
          </a:xfrm>
          <a:prstGeom prst="line">
            <a:avLst/>
          </a:prstGeom>
          <a:noFill/>
          <a:ln w="19050">
            <a:solidFill>
              <a:srgbClr val="0D9488"/>
            </a:solidFill>
            <a:prstDash val="solid"/>
          </a:ln>
        </p:spPr>
      </p:sp>
      <p:sp>
        <p:nvSpPr>
          <p:cNvPr id="6" name="Text 4"/>
          <p:cNvSpPr/>
          <p:nvPr/>
        </p:nvSpPr>
        <p:spPr>
          <a:xfrm>
            <a:off x="1371600" y="3291840"/>
            <a:ext cx="6400800" cy="1463040"/>
          </a:xfrm>
          <a:prstGeom prst="rect">
            <a:avLst/>
          </a:prstGeom>
          <a:noFill/>
        </p:spPr>
        <p:txBody>
          <a:bodyPr wrap="square" rtlCol="0" anchor="ctr"/>
          <a:lstStyle/>
          <a:p>
            <a:pPr marL="0" indent="0" algn="ctr">
              <a:lnSpc>
                <a:spcPct val="180000"/>
              </a:lnSpc>
              <a:buNone/>
            </a:pPr>
            <a:r>
              <a:rPr 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1. 调研主题是否需要在三个方向中进一步聚焦？</a:t>
            </a:r>
            <a:endParaRPr lang="en-US" sz="1200" dirty="0"/>
          </a:p>
          <a:p>
            <a:pPr marL="0" indent="0" algn="ctr">
              <a:lnSpc>
                <a:spcPct val="180000"/>
              </a:lnSpc>
              <a:buNone/>
            </a:pPr>
            <a:r>
              <a:rPr 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2. 申明锐副教授讲座的互动问题如何设计？</a:t>
            </a:r>
            <a:endParaRPr lang="en-US" sz="1200" dirty="0"/>
          </a:p>
          <a:p>
            <a:pPr marL="0" algn="ctr">
              <a:lnSpc>
                <a:spcPct val="180000"/>
              </a:lnSpc>
              <a:buClrTx/>
              <a:buSzTx/>
              <a:buFontTx/>
              <a:buNone/>
            </a:pPr>
            <a:r>
              <a:rPr 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3.</a:t>
            </a:r>
            <a:r>
              <a:rPr lang="zh-CN" alt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是否可以关注居民</a:t>
            </a:r>
            <a:r>
              <a:rPr lang="en-US" altLang="zh-CN"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游客</a:t>
            </a:r>
            <a:r>
              <a:rPr lang="zh-CN" alt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的矛盾冲突</a:t>
            </a:r>
            <a:r>
              <a:rPr lang="zh-CN" alt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rPr>
              <a:t>点？</a:t>
            </a:r>
            <a:endParaRPr lang="zh-CN" altLang="en-US" sz="12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tags/tag1.xml><?xml version="1.0" encoding="utf-8"?>
<p:tagLst xmlns:p="http://schemas.openxmlformats.org/presentationml/2006/main">
  <p:tag name="KSO_WM_DIAGRAM_VIRTUALLY_FRAME" val="{&quot;height&quot;:309.6,&quot;left&quot;:36,&quot;top&quot;:79.2,&quot;width&quot;:655.2}"/>
</p:tagLst>
</file>

<file path=ppt/tags/tag2.xml><?xml version="1.0" encoding="utf-8"?>
<p:tagLst xmlns:p="http://schemas.openxmlformats.org/presentationml/2006/main">
  <p:tag name="KSO_WM_DIAGRAM_VIRTUALLY_FRAME" val="{&quot;height&quot;:309.6,&quot;left&quot;:36,&quot;top&quot;:79.2,&quot;width&quot;:655.2}"/>
</p:tagLst>
</file>

<file path=ppt/tags/tag3.xml><?xml version="1.0" encoding="utf-8"?>
<p:tagLst xmlns:p="http://schemas.openxmlformats.org/presentationml/2006/main">
  <p:tag name="KSO_WM_DIAGRAM_VIRTUALLY_FRAME" val="{&quot;height&quot;:309.6,&quot;left&quot;:36,&quot;top&quot;:79.2,&quot;width&quot;:655.2}"/>
</p:tagLst>
</file>

<file path=ppt/tags/tag4.xml><?xml version="1.0" encoding="utf-8"?>
<p:tagLst xmlns:p="http://schemas.openxmlformats.org/presentationml/2006/main">
  <p:tag name="KSO_WM_DIAGRAM_VIRTUALLY_FRAME" val="{&quot;height&quot;:309.6,&quot;left&quot;:36,&quot;top&quot;:79.2,&quot;width&quot;:655.2}"/>
</p:tagLst>
</file>

<file path=ppt/tags/tag5.xml><?xml version="1.0" encoding="utf-8"?>
<p:tagLst xmlns:p="http://schemas.openxmlformats.org/presentationml/2006/main">
  <p:tag name="KSO_WM_DIAGRAM_VIRTUALLY_FRAME" val="{&quot;height&quot;:309.6,&quot;left&quot;:36,&quot;top&quot;:79.2,&quot;width&quot;:655.2}"/>
</p:tagLst>
</file>

<file path=ppt/tags/tag6.xml><?xml version="1.0" encoding="utf-8"?>
<p:tagLst xmlns:p="http://schemas.openxmlformats.org/presentationml/2006/main">
  <p:tag name="KSO_WM_DIAGRAM_VIRTUALLY_FRAME" val="{&quot;height&quot;:309.6,&quot;left&quot;:36,&quot;top&quot;:79.2,&quot;width&quot;:655.2}"/>
</p:tagLst>
</file>

<file path=ppt/tags/tag7.xml><?xml version="1.0" encoding="utf-8"?>
<p:tagLst xmlns:p="http://schemas.openxmlformats.org/presentationml/2006/main">
  <p:tag name="KSO_WM_DIAGRAM_VIRTUALLY_FRAME" val="{&quot;height&quot;:309.6,&quot;left&quot;:36,&quot;top&quot;:79.2,&quot;width&quot;:655.2}"/>
</p:tagLst>
</file>

<file path=ppt/tags/tag8.xml><?xml version="1.0" encoding="utf-8"?>
<p:tagLst xmlns:p="http://schemas.openxmlformats.org/presentationml/2006/main">
  <p:tag name="KSO_WM_DIAGRAM_VIRTUALLY_FRAME" val="{&quot;height&quot;:309.6,&quot;left&quot;:36,&quot;top&quot;:79.2,&quot;width&quot;:655.2}"/>
</p:tagLst>
</file>

<file path=ppt/tags/tag9.xml><?xml version="1.0" encoding="utf-8"?>
<p:tagLst xmlns:p="http://schemas.openxmlformats.org/presentationml/2006/main">
  <p:tag name="KSO_WM_DIAGRAM_VIRTUALLY_FRAME" val="{&quot;height&quot;:309.6,&quot;left&quot;:36,&quot;top&quot;:79.2,&quot;width&quot;:655.2}"/>
</p:tagLst>
</file>

<file path=ppt/tags/tag10.xml><?xml version="1.0" encoding="utf-8"?>
<p:tagLst xmlns:p="http://schemas.openxmlformats.org/presentationml/2006/main">
  <p:tag name="KSO_WM_DIAGRAM_VIRTUALLY_FRAME" val="{&quot;height&quot;:309.6,&quot;left&quot;:36,&quot;top&quot;:79.2,&quot;width&quot;:655.2}"/>
</p:tagLst>
</file>

<file path=ppt/tags/tag11.xml><?xml version="1.0" encoding="utf-8"?>
<p:tagLst xmlns:p="http://schemas.openxmlformats.org/presentationml/2006/main">
  <p:tag name="KSO_WM_DIAGRAM_VIRTUALLY_FRAME" val="{&quot;height&quot;:309.6,&quot;left&quot;:36,&quot;top&quot;:79.2,&quot;width&quot;:655.2}"/>
</p:tagLst>
</file>

<file path=ppt/tags/tag12.xml><?xml version="1.0" encoding="utf-8"?>
<p:tagLst xmlns:p="http://schemas.openxmlformats.org/presentationml/2006/main">
  <p:tag name="KSO_WM_DIAGRAM_VIRTUALLY_FRAME" val="{&quot;height&quot;:309.6,&quot;left&quot;:36,&quot;top&quot;:79.2,&quot;width&quot;:655.2}"/>
</p:tagLst>
</file>

<file path=ppt/tags/tag13.xml><?xml version="1.0" encoding="utf-8"?>
<p:tagLst xmlns:p="http://schemas.openxmlformats.org/presentationml/2006/main">
  <p:tag name="KSO_WM_DIAGRAM_VIRTUALLY_FRAME" val="{&quot;height&quot;:309.6,&quot;left&quot;:36,&quot;top&quot;:79.2,&quot;width&quot;:655.2}"/>
</p:tagLst>
</file>

<file path=ppt/tags/tag14.xml><?xml version="1.0" encoding="utf-8"?>
<p:tagLst xmlns:p="http://schemas.openxmlformats.org/presentationml/2006/main">
  <p:tag name="KSO_WM_DIAGRAM_VIRTUALLY_FRAME" val="{&quot;height&quot;:309.6,&quot;left&quot;:36,&quot;top&quot;:79.2,&quot;width&quot;:655.2}"/>
</p:tagLst>
</file>

<file path=ppt/tags/tag15.xml><?xml version="1.0" encoding="utf-8"?>
<p:tagLst xmlns:p="http://schemas.openxmlformats.org/presentationml/2006/main">
  <p:tag name="KSO_WM_DIAGRAM_VIRTUALLY_FRAME" val="{&quot;height&quot;:309.6,&quot;left&quot;:36,&quot;top&quot;:79.2,&quot;width&quot;:655.2}"/>
</p:tagLst>
</file>

<file path=ppt/tags/tag16.xml><?xml version="1.0" encoding="utf-8"?>
<p:tagLst xmlns:p="http://schemas.openxmlformats.org/presentationml/2006/main">
  <p:tag name="KSO_WM_DIAGRAM_VIRTUALLY_FRAME" val="{&quot;height&quot;:309.6,&quot;left&quot;:36,&quot;top&quot;:79.2,&quot;width&quot;:655.2}"/>
</p:tagLst>
</file>

<file path=ppt/tags/tag17.xml><?xml version="1.0" encoding="utf-8"?>
<p:tagLst xmlns:p="http://schemas.openxmlformats.org/presentationml/2006/main">
  <p:tag name="KSO_WM_DIAGRAM_VIRTUALLY_FRAME" val="{&quot;height&quot;:309.6,&quot;left&quot;:36,&quot;top&quot;:79.2,&quot;width&quot;:655.2}"/>
</p:tagLst>
</file>

<file path=ppt/tags/tag18.xml><?xml version="1.0" encoding="utf-8"?>
<p:tagLst xmlns:p="http://schemas.openxmlformats.org/presentationml/2006/main">
  <p:tag name="KSO_WM_DIAGRAM_VIRTUALLY_FRAME" val="{&quot;height&quot;:309.6,&quot;left&quot;:36,&quot;top&quot;:79.2,&quot;width&quot;:655.2}"/>
</p:tagLst>
</file>

<file path=ppt/tags/tag19.xml><?xml version="1.0" encoding="utf-8"?>
<p:tagLst xmlns:p="http://schemas.openxmlformats.org/presentationml/2006/main">
  <p:tag name="KSO_WM_DIAGRAM_VIRTUALLY_FRAME" val="{&quot;height&quot;:309.6,&quot;left&quot;:36,&quot;top&quot;:79.2,&quot;width&quot;:655.2}"/>
</p:tagLst>
</file>

<file path=ppt/tags/tag20.xml><?xml version="1.0" encoding="utf-8"?>
<p:tagLst xmlns:p="http://schemas.openxmlformats.org/presentationml/2006/main">
  <p:tag name="KSO_WM_DIAGRAM_VIRTUALLY_FRAME" val="{&quot;height&quot;:309.6,&quot;left&quot;:36,&quot;top&quot;:79.2,&quot;width&quot;:655.2}"/>
</p:tagLst>
</file>

<file path=ppt/tags/tag21.xml><?xml version="1.0" encoding="utf-8"?>
<p:tagLst xmlns:p="http://schemas.openxmlformats.org/presentationml/2006/main">
  <p:tag name="KSO_WM_DIAGRAM_VIRTUALLY_FRAME" val="{&quot;height&quot;:309.6,&quot;left&quot;:36,&quot;top&quot;:79.2,&quot;width&quot;:655.2}"/>
</p:tagLst>
</file>

<file path=ppt/tags/tag22.xml><?xml version="1.0" encoding="utf-8"?>
<p:tagLst xmlns:p="http://schemas.openxmlformats.org/presentationml/2006/main">
  <p:tag name="KSO_WM_DIAGRAM_VIRTUALLY_FRAME" val="{&quot;height&quot;:309.6,&quot;left&quot;:36,&quot;top&quot;:79.2,&quot;width&quot;:655.2}"/>
</p:tagLst>
</file>

<file path=ppt/tags/tag23.xml><?xml version="1.0" encoding="utf-8"?>
<p:tagLst xmlns:p="http://schemas.openxmlformats.org/presentationml/2006/main">
  <p:tag name="KSO_WM_DIAGRAM_VIRTUALLY_FRAME" val="{&quot;height&quot;:309.6,&quot;left&quot;:36,&quot;top&quot;:79.2,&quot;width&quot;:655.2}"/>
</p:tagLst>
</file>

<file path=ppt/tags/tag24.xml><?xml version="1.0" encoding="utf-8"?>
<p:tagLst xmlns:p="http://schemas.openxmlformats.org/presentationml/2006/main">
  <p:tag name="KSO_WM_DIAGRAM_VIRTUALLY_FRAME" val="{&quot;height&quot;:309.6,&quot;left&quot;:36,&quot;top&quot;:79.2,&quot;width&quot;:655.2}"/>
</p:tagLst>
</file>

<file path=ppt/tags/tag25.xml><?xml version="1.0" encoding="utf-8"?>
<p:tagLst xmlns:p="http://schemas.openxmlformats.org/presentationml/2006/main">
  <p:tag name="KSO_WM_DIAGRAM_VIRTUALLY_FRAME" val="{&quot;height&quot;:309.6,&quot;left&quot;:36,&quot;top&quot;:79.2,&quot;width&quot;:655.2}"/>
</p:tagLst>
</file>

<file path=ppt/tags/tag26.xml><?xml version="1.0" encoding="utf-8"?>
<p:tagLst xmlns:p="http://schemas.openxmlformats.org/presentationml/2006/main">
  <p:tag name="KSO_WM_DIAGRAM_VIRTUALLY_FRAME" val="{&quot;height&quot;:309.6,&quot;left&quot;:36,&quot;top&quot;:79.2,&quot;width&quot;:655.2}"/>
</p:tagLst>
</file>

<file path=ppt/tags/tag27.xml><?xml version="1.0" encoding="utf-8"?>
<p:tagLst xmlns:p="http://schemas.openxmlformats.org/presentationml/2006/main">
  <p:tag name="KSO_WM_DIAGRAM_VIRTUALLY_FRAME" val="{&quot;height&quot;:309.6,&quot;left&quot;:36,&quot;top&quot;:79.2,&quot;width&quot;:655.2}"/>
</p:tagLst>
</file>

<file path=ppt/tags/tag28.xml><?xml version="1.0" encoding="utf-8"?>
<p:tagLst xmlns:p="http://schemas.openxmlformats.org/presentationml/2006/main">
  <p:tag name="KSO_WM_DIAGRAM_VIRTUALLY_FRAME" val="{&quot;height&quot;:309.6,&quot;left&quot;:36,&quot;top&quot;:79.2,&quot;width&quot;:655.2}"/>
</p:tagLst>
</file>

<file path=ppt/tags/tag29.xml><?xml version="1.0" encoding="utf-8"?>
<p:tagLst xmlns:p="http://schemas.openxmlformats.org/presentationml/2006/main">
  <p:tag name="KSO_WM_DIAGRAM_VIRTUALLY_FRAME" val="{&quot;height&quot;:309.6,&quot;left&quot;:36,&quot;top&quot;:79.2,&quot;width&quot;:655.2}"/>
</p:tagLst>
</file>

<file path=ppt/tags/tag30.xml><?xml version="1.0" encoding="utf-8"?>
<p:tagLst xmlns:p="http://schemas.openxmlformats.org/presentationml/2006/main">
  <p:tag name="KSO_WM_DIAGRAM_VIRTUALLY_FRAME" val="{&quot;height&quot;:309.6,&quot;left&quot;:36,&quot;top&quot;:79.2,&quot;width&quot;:655.2}"/>
</p:tagLst>
</file>

<file path=ppt/tags/tag31.xml><?xml version="1.0" encoding="utf-8"?>
<p:tagLst xmlns:p="http://schemas.openxmlformats.org/presentationml/2006/main">
  <p:tag name="KSO_WM_DIAGRAM_VIRTUALLY_FRAME" val="{&quot;height&quot;:295.2,&quot;left&quot;:36,&quot;top&quot;:79.2,&quot;width&quot;:648}"/>
</p:tagLst>
</file>

<file path=ppt/tags/tag32.xml><?xml version="1.0" encoding="utf-8"?>
<p:tagLst xmlns:p="http://schemas.openxmlformats.org/presentationml/2006/main">
  <p:tag name="KSO_WM_DIAGRAM_VIRTUALLY_FRAME" val="{&quot;height&quot;:295.2,&quot;left&quot;:36,&quot;top&quot;:79.2,&quot;width&quot;:648}"/>
</p:tagLst>
</file>

<file path=ppt/tags/tag33.xml><?xml version="1.0" encoding="utf-8"?>
<p:tagLst xmlns:p="http://schemas.openxmlformats.org/presentationml/2006/main">
  <p:tag name="KSO_WM_DIAGRAM_VIRTUALLY_FRAME" val="{&quot;height&quot;:295.2,&quot;left&quot;:36,&quot;top&quot;:79.2,&quot;width&quot;:648}"/>
</p:tagLst>
</file>

<file path=ppt/tags/tag34.xml><?xml version="1.0" encoding="utf-8"?>
<p:tagLst xmlns:p="http://schemas.openxmlformats.org/presentationml/2006/main">
  <p:tag name="KSO_WM_DIAGRAM_VIRTUALLY_FRAME" val="{&quot;height&quot;:295.2,&quot;left&quot;:36,&quot;top&quot;:79.2,&quot;width&quot;:648}"/>
</p:tagLst>
</file>

<file path=ppt/tags/tag35.xml><?xml version="1.0" encoding="utf-8"?>
<p:tagLst xmlns:p="http://schemas.openxmlformats.org/presentationml/2006/main">
  <p:tag name="KSO_WM_DIAGRAM_VIRTUALLY_FRAME" val="{&quot;height&quot;:295.2,&quot;left&quot;:36,&quot;top&quot;:79.2,&quot;width&quot;:648}"/>
</p:tagLst>
</file>

<file path=ppt/tags/tag36.xml><?xml version="1.0" encoding="utf-8"?>
<p:tagLst xmlns:p="http://schemas.openxmlformats.org/presentationml/2006/main">
  <p:tag name="KSO_WM_DIAGRAM_VIRTUALLY_FRAME" val="{&quot;height&quot;:295.2,&quot;left&quot;:36,&quot;top&quot;:79.2,&quot;width&quot;:648}"/>
</p:tagLst>
</file>

<file path=ppt/tags/tag37.xml><?xml version="1.0" encoding="utf-8"?>
<p:tagLst xmlns:p="http://schemas.openxmlformats.org/presentationml/2006/main">
  <p:tag name="KSO_WM_DIAGRAM_VIRTUALLY_FRAME" val="{&quot;height&quot;:295.2,&quot;left&quot;:36,&quot;top&quot;:79.2,&quot;width&quot;:648}"/>
</p:tagLst>
</file>

<file path=ppt/tags/tag38.xml><?xml version="1.0" encoding="utf-8"?>
<p:tagLst xmlns:p="http://schemas.openxmlformats.org/presentationml/2006/main">
  <p:tag name="KSO_WM_DIAGRAM_VIRTUALLY_FRAME" val="{&quot;height&quot;:295.2,&quot;left&quot;:36,&quot;top&quot;:79.2,&quot;width&quot;:648}"/>
</p:tagLst>
</file>

<file path=ppt/tags/tag39.xml><?xml version="1.0" encoding="utf-8"?>
<p:tagLst xmlns:p="http://schemas.openxmlformats.org/presentationml/2006/main">
  <p:tag name="KSO_WM_DIAGRAM_VIRTUALLY_FRAME" val="{&quot;height&quot;:295.2,&quot;left&quot;:36,&quot;top&quot;:79.2,&quot;width&quot;:648}"/>
</p:tagLst>
</file>

<file path=ppt/tags/tag40.xml><?xml version="1.0" encoding="utf-8"?>
<p:tagLst xmlns:p="http://schemas.openxmlformats.org/presentationml/2006/main">
  <p:tag name="KSO_WM_DIAGRAM_VIRTUALLY_FRAME" val="{&quot;height&quot;:295.2,&quot;left&quot;:36,&quot;top&quot;:79.2,&quot;width&quot;:648}"/>
</p:tagLst>
</file>

<file path=ppt/tags/tag41.xml><?xml version="1.0" encoding="utf-8"?>
<p:tagLst xmlns:p="http://schemas.openxmlformats.org/presentationml/2006/main">
  <p:tag name="KSO_WM_DIAGRAM_VIRTUALLY_FRAME" val="{&quot;height&quot;:295.2,&quot;left&quot;:36,&quot;top&quot;:79.2,&quot;width&quot;:648}"/>
</p:tagLst>
</file>

<file path=ppt/tags/tag42.xml><?xml version="1.0" encoding="utf-8"?>
<p:tagLst xmlns:p="http://schemas.openxmlformats.org/presentationml/2006/main">
  <p:tag name="KSO_WM_DIAGRAM_VIRTUALLY_FRAME" val="{&quot;height&quot;:295.2,&quot;left&quot;:36,&quot;top&quot;:79.2,&quot;width&quot;:648}"/>
</p:tagLst>
</file>

<file path=ppt/tags/tag43.xml><?xml version="1.0" encoding="utf-8"?>
<p:tagLst xmlns:p="http://schemas.openxmlformats.org/presentationml/2006/main">
  <p:tag name="KSO_WM_DIAGRAM_VIRTUALLY_FRAME" val="{&quot;height&quot;:295.2,&quot;left&quot;:36,&quot;top&quot;:79.2,&quot;width&quot;:648}"/>
</p:tagLst>
</file>

<file path=ppt/tags/tag44.xml><?xml version="1.0" encoding="utf-8"?>
<p:tagLst xmlns:p="http://schemas.openxmlformats.org/presentationml/2006/main">
  <p:tag name="KSO_WM_DIAGRAM_VIRTUALLY_FRAME" val="{&quot;height&quot;:295.2,&quot;left&quot;:36,&quot;top&quot;:79.2,&quot;width&quot;:648}"/>
</p:tagLst>
</file>

<file path=ppt/tags/tag45.xml><?xml version="1.0" encoding="utf-8"?>
<p:tagLst xmlns:p="http://schemas.openxmlformats.org/presentationml/2006/main">
  <p:tag name="KSO_WM_DIAGRAM_VIRTUALLY_FRAME" val="{&quot;height&quot;:295.2,&quot;left&quot;:36,&quot;top&quot;:79.2,&quot;width&quot;:648}"/>
</p:tagLst>
</file>

<file path=ppt/tags/tag46.xml><?xml version="1.0" encoding="utf-8"?>
<p:tagLst xmlns:p="http://schemas.openxmlformats.org/presentationml/2006/main">
  <p:tag name="KSO_WM_DIAGRAM_VIRTUALLY_FRAME" val="{&quot;height&quot;:295.2,&quot;left&quot;:36,&quot;top&quot;:79.2,&quot;width&quot;:648}"/>
</p:tagLst>
</file>

<file path=ppt/tags/tag47.xml><?xml version="1.0" encoding="utf-8"?>
<p:tagLst xmlns:p="http://schemas.openxmlformats.org/presentationml/2006/main">
  <p:tag name="KSO_WM_DIAGRAM_VIRTUALLY_FRAME" val="{&quot;height&quot;:295.2,&quot;left&quot;:36,&quot;top&quot;:79.2,&quot;width&quot;:648}"/>
</p:tagLst>
</file>

<file path=ppt/tags/tag48.xml><?xml version="1.0" encoding="utf-8"?>
<p:tagLst xmlns:p="http://schemas.openxmlformats.org/presentationml/2006/main">
  <p:tag name="KSO_WM_DIAGRAM_VIRTUALLY_FRAME" val="{&quot;height&quot;:295.2,&quot;left&quot;:36,&quot;top&quot;:79.2,&quot;width&quot;:648}"/>
</p:tagLst>
</file>

<file path=ppt/tags/tag49.xml><?xml version="1.0" encoding="utf-8"?>
<p:tagLst xmlns:p="http://schemas.openxmlformats.org/presentationml/2006/main">
  <p:tag name="KSO_WM_DIAGRAM_VIRTUALLY_FRAME" val="{&quot;height&quot;:295.2,&quot;left&quot;:36,&quot;top&quot;:79.2,&quot;width&quot;:648}"/>
</p:tagLst>
</file>

<file path=ppt/tags/tag50.xml><?xml version="1.0" encoding="utf-8"?>
<p:tagLst xmlns:p="http://schemas.openxmlformats.org/presentationml/2006/main">
  <p:tag name="KSO_WM_DIAGRAM_VIRTUALLY_FRAME" val="{&quot;height&quot;:295.2,&quot;left&quot;:36,&quot;top&quot;:79.2,&quot;width&quot;:648}"/>
</p:tagLst>
</file>

<file path=ppt/tags/tag51.xml><?xml version="1.0" encoding="utf-8"?>
<p:tagLst xmlns:p="http://schemas.openxmlformats.org/presentationml/2006/main">
  <p:tag name="KSO_WM_DIAGRAM_VIRTUALLY_FRAME" val="{&quot;height&quot;:295.2,&quot;left&quot;:36,&quot;top&quot;:79.2,&quot;width&quot;:648}"/>
</p:tagLst>
</file>

<file path=ppt/tags/tag52.xml><?xml version="1.0" encoding="utf-8"?>
<p:tagLst xmlns:p="http://schemas.openxmlformats.org/presentationml/2006/main">
  <p:tag name="KSO_WM_DIAGRAM_VIRTUALLY_FRAME" val="{&quot;height&quot;:295.2,&quot;left&quot;:36,&quot;top&quot;:79.2,&quot;width&quot;:648}"/>
</p:tagLst>
</file>

<file path=ppt/tags/tag53.xml><?xml version="1.0" encoding="utf-8"?>
<p:tagLst xmlns:p="http://schemas.openxmlformats.org/presentationml/2006/main">
  <p:tag name="KSO_WM_DIAGRAM_VIRTUALLY_FRAME" val="{&quot;height&quot;:295.2,&quot;left&quot;:36,&quot;top&quot;:79.2,&quot;width&quot;:648}"/>
</p:tagLst>
</file>

<file path=ppt/tags/tag54.xml><?xml version="1.0" encoding="utf-8"?>
<p:tagLst xmlns:p="http://schemas.openxmlformats.org/presentationml/2006/main">
  <p:tag name="KSO_WM_DIAGRAM_VIRTUALLY_FRAME" val="{&quot;height&quot;:295.2,&quot;left&quot;:36,&quot;top&quot;:79.2,&quot;width&quot;:64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2979</Words>
  <Application>WPS 演示</Application>
  <PresentationFormat>On-screen Show (16:9)</PresentationFormat>
  <Paragraphs>391</Paragraphs>
  <Slides>12</Slides>
  <Notes>12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宋体</vt:lpstr>
      <vt:lpstr>Wingdings</vt:lpstr>
      <vt:lpstr>微软雅黑</vt:lpstr>
      <vt:lpstr>微软雅黑</vt:lpstr>
      <vt:lpstr>Georgia</vt:lpstr>
      <vt:lpstr>Georgia</vt:lpstr>
      <vt:lpstr>Georgia</vt:lpstr>
      <vt:lpstr>Calibri</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桂山岛海岛型乡村空间治理与可持续发展调研方案</dc:title>
  <dc:creator>桂山岛调研小组</dc:creator>
  <dc:subject>PptxGenJS Presentation</dc:subject>
  <cp:lastModifiedBy>宋听潮</cp:lastModifiedBy>
  <cp:revision>2</cp:revision>
  <dcterms:created xsi:type="dcterms:W3CDTF">2026-07-13T06:59:00Z</dcterms:created>
  <dcterms:modified xsi:type="dcterms:W3CDTF">2026-07-13T07:48:55Z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68D06B9C8BC7452BB53578413AA1AE5B_12</vt:lpwstr>
  </property>
</Properties>
</file>